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8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D48"/>
          </a:solidFill>
          <a:ln w="12700">
            <a:solidFill>
              <a:srgbClr val="0C2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Noto Looped Thai" pitchFamily="34" charset="0"/>
                <a:ea typeface="Noto Looped Thai" pitchFamily="34" charset="-122"/>
                <a:cs typeface="Noto Looped Thai" pitchFamily="34" charset="-120"/>
              </a:rPr>
              <a:t>สอบความก้าวหน้าโครงงาน 100% | ระดับปริญญาตรี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96"/>
                </a:solidFill>
                <a:latin typeface="Noto Looped Thai" pitchFamily="34" charset="0"/>
                <a:ea typeface="Noto Looped Thai" pitchFamily="34" charset="-122"/>
                <a:cs typeface="Noto Looped Thai" pitchFamily="34" charset="-120"/>
              </a:rPr>
              <a:t>วิชาโครงงาน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0160">
            <a:solidFill>
              <a:srgbClr val="DDE3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18096"/>
                </a:solidFill>
                <a:latin typeface="Noto Looped Thai"/>
                <a:ea typeface="Noto Looped Thai"/>
                <a:cs typeface="Noto Looped Tha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18096"/>
                </a:solidFill>
                <a:latin typeface="Noto Looped Thai"/>
                <a:ea typeface="Noto Looped Thai"/>
                <a:cs typeface="Noto Looped Tha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955279" y="-1097280"/>
            <a:ext cx="5486400" cy="5486400"/>
          </a:xfrm>
          <a:prstGeom prst="ellipse">
            <a:avLst/>
          </a:prstGeom>
          <a:solidFill>
            <a:srgbClr val="174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098280" y="777240"/>
            <a:ext cx="2148840" cy="2148840"/>
          </a:xfrm>
          <a:prstGeom prst="ellipse">
            <a:avLst/>
          </a:prstGeom>
          <a:solidFill>
            <a:srgbClr val="174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70848" y="12984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Noto Looped Thai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9136" y="186537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CE5E5"/>
                </a:solidFill>
                <a:latin typeface="Aptos"/>
              </a:rPr>
              <a:t>SCOPE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CE5E5"/>
                </a:solidFill>
                <a:latin typeface="Aptos"/>
              </a:rP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6949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Noto Looped Thai"/>
              </a:rPr>
              <a:t>นำเสนอผลงานโครงงาน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Noto Looped Thai"/>
              </a:rPr>
              <a:t>ครบขอบเขต 100% + ระบบออนไลน์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D6E4EE"/>
                </a:solidFill>
                <a:latin typeface="Noto Looped Thai"/>
              </a:rPr>
              <a:t>Habit Tracker — Daily Habit Tracking Application (Offline-first + Cloud Sync)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703320"/>
            <a:ext cx="6629400" cy="1417320"/>
          </a:xfrm>
          <a:prstGeom prst="roundRect">
            <a:avLst>
              <a:gd name="adj" fmla="val 7000"/>
            </a:avLst>
          </a:prstGeom>
          <a:solidFill>
            <a:srgbClr val="10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995928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Noto Looped Thai"/>
              </a:rPr>
              <a:t>ชื่อโครงงาน:  แอปพลิเคชันติดตามพฤติกรรมประจำวันบนมือถือ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Noto Looped Thai"/>
              </a:rPr>
              <a:t>ผู้จัดทำ:  ภูตะวัน ทองวิลาศ     รหัสนักศึกษา: 68409010016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Noto Looped Thai"/>
              </a:rPr>
              <a:t>อาจารย์ที่ปรึกษา:  นฐมนพรรณ สุวรรณชาตรี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989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BCE5E5"/>
                </a:solidFill>
                <a:latin typeface="Noto Looped Thai"/>
              </a:rPr>
              <a:t>ติดตั้งจริงด้วยไฟล์ APK · ทดสอบอัตโนมัติผ่าน 105 กรณี · ระบบสมาชิกและกระดานอันดับบนคลาวด์  ·  วิทยาลัยเทคนิคเชียงใหม่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ปัญหาและความจำเป็นของโครงงาน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คนตั้งใจสร้างนิสัยใหม่แล้วเลิกกลางคัน เพราะไม่เห็นความต่อเนื่องและไม่มีแรงกระตุ้น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เลิกกลางคัน · ดูย้อนหลังไม่ได้ · ทำคนเดียวไม่มีแรงสู้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2057400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68680" y="1527048"/>
            <a:ext cx="420624" cy="420624"/>
          </a:xfrm>
          <a:prstGeom prst="ellipse">
            <a:avLst/>
          </a:prstGeom>
          <a:solidFill>
            <a:srgbClr val="C53030"/>
          </a:solidFill>
          <a:ln w="952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1664207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545336"/>
            <a:ext cx="2450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ปัญหาหลัก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039112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จดในสมุดหรือโน้ตมือถือ สรุปย้อนหลังไม่ได้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ไม่รู้ว่าทำต่อเนื่องมากี่วัน จึงขาดแรงจูงใจ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ทำอยู่คนเดียว ไม่มีอะไรเทียบว่าตัวเองขยันแค่ไหน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ย้ายเครื่องใหม่แล้วข้อมูลเดิมหายทั้งหมด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89120" y="1325880"/>
            <a:ext cx="54864" cy="2057400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7720" y="1527048"/>
            <a:ext cx="420624" cy="420624"/>
          </a:xfrm>
          <a:prstGeom prst="ellipse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7720" y="1664207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1545336"/>
            <a:ext cx="2450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ผู้ใช้กลุ่มเป้าหมาย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039112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นักเรียน–นักศึกษาที่ต้องการสร้างวินัย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วัยทำงานที่ติดตามพฤติกรรมสุขภาพ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กลุ่มเพื่อนที่อยากชวนกันทำและแข่งกันเล่น 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2588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54864" cy="205740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366760" y="1527048"/>
            <a:ext cx="420624" cy="420624"/>
          </a:xfrm>
          <a:prstGeom prst="ellipse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66760" y="1664207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1545336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แนวทางที่พัฒนา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039112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แอปที่เก็บข้อมูลในเครื่องด้วย SQLite ใช้งานได้แม้ไม่มีเน็ต คำนวณวันต่อเนื่องและอัตราสำเร็จอัตโนมัติ แจ้งเตือนตามเวลา และถ้าสมัครสมาชิกจะซิงก์ขึ้นคลาวด์ พร้อมกระดานอันดับเทียบกับคนอื่น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03320"/>
            <a:ext cx="10927080" cy="160020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 w="9525">
            <a:solidFill>
              <a:srgbClr val="F3D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6112" y="3968496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8A5B00"/>
                </a:solidFill>
                <a:latin typeface="Noto Looped Thai"/>
              </a:rPr>
              <a:t>วิธีเดิม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858768"/>
            <a:ext cx="8915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20" b="0">
                <a:solidFill>
                  <a:srgbClr val="1F2937"/>
                </a:solidFill>
                <a:latin typeface="Noto Looped Thai"/>
              </a:rPr>
              <a:t>จดในสมุดหรือแอปโน้ต → ไม่มีการคำนวณย้อนหลัง → ไม่รู้ว่าขาดไปกี่วัน → เลิกทำ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20" b="0">
                <a:solidFill>
                  <a:srgbClr val="1F2937"/>
                </a:solidFill>
                <a:latin typeface="Noto Looped Thai"/>
              </a:rPr>
              <a:t>แอปสำเร็จรูปส่วนใหญ่บังคับสมัครสมาชิกก่อนใช้ ต่ออินเทอร์เน็ตตลอด และเป็นภาษาอังกฤษ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20" b="0">
                <a:solidFill>
                  <a:srgbClr val="1F2937"/>
                </a:solidFill>
                <a:latin typeface="Noto Looped Thai"/>
              </a:rPr>
              <a:t>โครงงานนี้กลับด้าน: ใช้งานออฟไลน์ได้ก่อน แล้วสมัครสมาชิกเมื่อ “อยากแข่งกับคนอื่น” จึงค่อยซิงก์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วัตถุประสงค์และเกณฑ์ความสำเร็จ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วัตถุประสงค์ 4 ข้อ ตรวจผลได้จากแอปจริงและผลการทดสอบอัตโนมัติ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ทุกข้อมีตัวชี้วัดที่ตรวจได้ในวันสอบ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64465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ข้อ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453895"/>
            <a:ext cx="4709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บันทึกพฤติกรรมประจำวันแบบออฟไลน์ ใช้ได้ทันทีโดยไม่ต้องสมัครสมาชิก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64465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254203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ข้อ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414016"/>
            <a:ext cx="4709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คำนวณ Streak อัตราสำเร็จรายสัปดาห์ และปฏิทินย้อนหลัง 1 ปี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64465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35021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ข้อ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374136"/>
            <a:ext cx="4709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รองรับความถี่หลายแบบ แจ้งเตือนตามเวลา และส่งออกข้อมูลได้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6446520" cy="8046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44622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ข้อ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34256"/>
            <a:ext cx="4709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สมัครสมาชิกแล้วซิงก์ข้ามเครื่อง มีระบบแต้มและกระดานอันดับ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325880"/>
            <a:ext cx="4206240" cy="3730752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5240" y="162763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0C2D48"/>
                </a:solidFill>
                <a:latin typeface="Noto Looped Thai"/>
              </a:rPr>
              <a:t>Success Criteria / ตัวชี้วัด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121408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• ฟังก์ชันตามขอบเขตเดิมครบ 9/9 รายการ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• ส่วนขยายออนไลน์ใช้งานได้ครบวงจร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• ชุดทดสอบอัตโนมัติผ่านทุกกรณี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• ใช้งานได้ขณะปิดอินเทอร์เน็ต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• ปิดแอปแล้วเปิดใหม่ ข้อมูลไม่หาย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80" b="0">
                <a:solidFill>
                  <a:srgbClr val="1F2937"/>
                </a:solidFill>
                <a:latin typeface="Noto Looped Thai"/>
              </a:rPr>
              <a:t>• สร้างไฟล์ APK ติดตั้งบนมือถือได้จริง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927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เกณฑ์: ฟังก์ชัน 9/9 + ออนไลน์ 4/4  |  flutter test 105/105  |  ใช้งานออฟไลน์  |  APK ติดตั้งได้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ขอบเขตระบบและฟังก์ชันที่ส่งมอบ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ขอบเขตเดิม 9 ฟังก์ชันเสร็จครบ และพัฒนาส่วนขยายออนไลน์เพิ่มอีก 4 ฟังก์ชัน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9/9 เดิม + 4 ออนไลน์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252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ตารางสถานะฟังก์ชัน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536192"/>
          <a:ext cx="7315200" cy="4448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914400"/>
                <a:gridCol w="246888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Looped Thai"/>
                        </a:rPr>
                        <a:t>ฟังก์ชัน / โมดูล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Looped Thai"/>
                        </a:rPr>
                        <a:t>สถานะ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Looped Thai"/>
                        </a:rPr>
                        <a:t>หลักฐาน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1. ฐานข้อมูล SQLite 3 ตาราง (drift)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app_database.dart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2. หน้าหลัก บันทึกพฤติกรรมรายวัน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ภาพหน้าจอ · สาธิตสด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3. เพิ่ม–แก้–ลบ habit + แม่แบบ 18 รายการ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add_habit · template_picker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4. สถิติ Streak · ปฏิทิน 1 ปี · กราฟ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analytics_screen + fl_chart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5. ธีมสว่าง / มืด และจำค่าไว้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settings + shared_preferences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6. แจ้งเตือนตามเวลาที่ตั้งไว้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notification_service + test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7. ความถี่ “N ครั้งต่อสัปดาห์”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weekly_frequency_test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8. จัดการหมวดหมู่ + ส่งออก CSV / JSON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manage_categories · exporter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9. ชุดทดสอบอัตโนมัติ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12 ไฟล์ · 105 กรณี ผ่านหมด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0C2D48"/>
                          </a:solidFill>
                          <a:latin typeface="Noto Looped Thai"/>
                        </a:rPr>
                        <a:t>10. ระบบสมาชิก (สมัคร / เข้าสู่ระบบ)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E8B8B"/>
                          </a:solidFill>
                          <a:latin typeface="Noto Looped Thai"/>
                        </a:rPr>
                        <a:t>เพิ่ม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auth_repository · login_screen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0C2D48"/>
                          </a:solidFill>
                          <a:latin typeface="Noto Looped Thai"/>
                        </a:rPr>
                        <a:t>11. ซิงก์ข้อมูลขึ้นคลาวด์ 2 ทาง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E8B8B"/>
                          </a:solidFill>
                          <a:latin typeface="Noto Looped Thai"/>
                        </a:rPr>
                        <a:t>เพิ่ม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sync_service · Supabase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0C2D48"/>
                          </a:solidFill>
                          <a:latin typeface="Noto Looped Thai"/>
                        </a:rPr>
                        <a:t>12. ระบบแต้มและระดับ คิดที่เซิร์ฟเวอร์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E8B8B"/>
                          </a:solidFill>
                          <a:latin typeface="Noto Looped Thai"/>
                        </a:rPr>
                        <a:t>เพิ่ม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trigger apply_points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0C2D48"/>
                          </a:solidFill>
                          <a:latin typeface="Noto Looped Thai"/>
                        </a:rPr>
                        <a:t>13. กระดานอันดับ + แชมป์แต่ละด้าน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2E8B8B"/>
                          </a:solidFill>
                          <a:latin typeface="Noto Looped Thai"/>
                        </a:rPr>
                        <a:t>เพิ่ม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  <a:latin typeface="Noto Looped Thai"/>
                        </a:rPr>
                        <a:t>leaderboard_screen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75320" y="1536192"/>
            <a:ext cx="3291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275320" y="1536192"/>
            <a:ext cx="54864" cy="214884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03920" y="1755648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ขอบเขตข้อมูล / ผู้ใช้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49424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ใช้งานออฟไลน์คนเดียวได้ทันที ไม่บังคับสมัคร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สมัครแล้วจึงซิงก์ขึ้นคลาวด์และเห็นอันดับ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เก็บในเครื่องด้วย SQLite · บนคลาวด์ 5 ตาราง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ภาษาไทยทั้งแอป + ธีมสว่างและมืด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84048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275320" y="3840480"/>
            <a:ext cx="54864" cy="1920240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03920" y="4059936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อยู่นอกขอบเขต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553712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ไม่มีแชต / ไม่มีการแชร์รายการ habit ให้คนอื่นเห็น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ยังไม่เผยแพร่ขึ้น Play Store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เวอร์ชัน iOS (โค้ดรองรับ แต่ไม่ได้ทดสอบ)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การออกแบบระบบ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แยกงานเป็น 5 ชั้น หน้าจอเฝ้าดูฐานข้อมูลในเครื่อง ส่วนคลาวด์เป็นชั้นบนสุดที่ถอดออกได้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UI → สถานะ → ข้อมูล → SQLite → คลาวด์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98448"/>
            <a:ext cx="64465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989320" cy="676656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1609344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ชั้นแสดงผล (UI) — Flutter Widgets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19" b="0">
                <a:solidFill>
                  <a:srgbClr val="E4EEF7"/>
                </a:solidFill>
                <a:latin typeface="Noto Looped Thai"/>
              </a:rPr>
              <a:t>หน้าหลัก · สถิติ · เพิ่ม/แก้ habit · แม่แบบ · หมวดหมู่ · ตั้งค่า · เข้าสู่ระบบ · กระดานอันดับ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03320" y="2212848"/>
            <a:ext cx="256032" cy="128016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359152"/>
            <a:ext cx="5989320" cy="676656"/>
          </a:xfrm>
          <a:prstGeom prst="roundRect">
            <a:avLst>
              <a:gd name="adj" fmla="val 14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" y="245973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ชั้นสถานะและตรรกะ — Riverpod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24912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19" b="0">
                <a:solidFill>
                  <a:srgbClr val="E4EEF7"/>
                </a:solidFill>
                <a:latin typeface="Noto Looped Thai"/>
              </a:rPr>
              <a:t>habitsProvider · dashboardProvider · analyticsProvider · appUserProvider · syncServiceProvider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703320" y="3063240"/>
            <a:ext cx="256032" cy="128016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209544"/>
            <a:ext cx="5989320" cy="676656"/>
          </a:xfrm>
          <a:prstGeom prst="roundRect">
            <a:avLst>
              <a:gd name="adj" fmla="val 14000"/>
            </a:avLst>
          </a:prstGeom>
          <a:solidFill>
            <a:srgbClr val="6D4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3310127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ชั้นข้อมูลในเครื่อง — AppDatabase (drift ORM)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75303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19" b="0">
                <a:solidFill>
                  <a:srgbClr val="E4EEF7"/>
                </a:solidFill>
                <a:latin typeface="Noto Looped Thai"/>
              </a:rPr>
              <a:t>watchActiveHabits() · watchLogsForDate() · upsertLog() · setHabitActive() · getPendingLogs()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703320" y="3913631"/>
            <a:ext cx="256032" cy="128016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4059935"/>
            <a:ext cx="5989320" cy="676656"/>
          </a:xfrm>
          <a:prstGeom prst="roundRect">
            <a:avLst>
              <a:gd name="adj" fmla="val 14000"/>
            </a:avLst>
          </a:prstGeom>
          <a:solidFill>
            <a:srgbClr val="3F4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ฐานข้อมูล SQLite ในเครื่อง — habit_tracker.db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25696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19" b="0">
                <a:solidFill>
                  <a:srgbClr val="E4EEF7"/>
                </a:solidFill>
                <a:latin typeface="Noto Looped Thai"/>
              </a:rPr>
              <a:t>Categories (1) —&lt; Habits (1) —&lt; HabitLogs   |   คีย์ไม่ซ้ำ: (habitId, loggedDate)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703320" y="4764023"/>
            <a:ext cx="256032" cy="128016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4910328"/>
            <a:ext cx="5989320" cy="676656"/>
          </a:xfrm>
          <a:prstGeom prst="roundRect">
            <a:avLst>
              <a:gd name="adj" fmla="val 14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05840" y="5010912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ชั้นคลาวด์ (ถอดออกได้) — Supabase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276088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19" b="0">
                <a:solidFill>
                  <a:srgbClr val="E4EEF7"/>
                </a:solidFill>
                <a:latin typeface="Noto Looped Thai"/>
              </a:rPr>
              <a:t>5 ตาราง · 15 ฟังก์ชันฝั่งเซิร์ฟเวอร์ · Row Level Security · ไม่ใส่คีย์ = แอปกลับเป็นออฟไลน์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1298448"/>
            <a:ext cx="420624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360920" y="1298448"/>
            <a:ext cx="54864" cy="438912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89520" y="1517904"/>
            <a:ext cx="3794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เครื่องมือและเหตุผลที่เลือก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011680"/>
            <a:ext cx="3749039" cy="3520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Flutter + Dart — เขียนชุดเดียวได้ทั้ง Android และเว็บ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drift + SQLite — ตรวจชนิดข้อมูลตั้งแต่ตอนคอมไพล์ ลดบั๊กคำสั่งค้นข้อมูล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flutter_riverpod — หน้าจออัปเดตเองเมื่อข้อมูลเปลี่ยน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go_router · fl_chart · intl · shared_preferences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flutter_local_notifications + timezone — ตั้งเวลาเตือนซ้ำทุกวัน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share_plus — ส่งออกไฟล์ CSV / JSON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supabase_flutter — ระบบสมาชิกและฐานข้อมูลบนคลาวด์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/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เหตุผลหลัก: เก็บในเครื่องเป็นหลัก = ใช้งานได้แม้ไม่มีเน็ต และถ้าวันหนึ่งไม่มีเซิร์ฟเวอร์ แอปก็ยังทำงานได้ครบ ไม่กลายเป็นขยะ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ระบบออนไลน์ทำงานอย่างไร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ออฟไลน์ก่อนเสมอ แล้วค่อยซิงก์ตามหลัง — เน็ตหลุดก็ยังติ๊กได้ ไม่มีข้อมูลหาย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ติ๊กลงเครื่องก่อน → ซิงก์ทีหลัง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9844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453895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3167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ติ๊กลงเครื่องทันที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60934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กดติ๊กแล้วบันทึกลง SQLite ในเครื่องก่อนเสมอ หน้าจอตอบสนองทันที ไม่ต้องรอเน็ต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5798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31343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1762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รวบรอบแล้วค่อยส่ง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468879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ตั้งเวลารอ 3 วินาที ติ๊กรัว ๆ หลายอันจะถูกรวบเป็นการส่งรอบเดียว ไม่ยิงเซิร์ฟเวอร์รายครั้ง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172968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0358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ส่งขึ้น (push) ตามลำดับ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328415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หมวดหมู่ → habit → บันทึกการติ๊ก เพราะ habit อ้างถึงหมวด ถ้าสลับลำดับเครื่องอื่นจะดึงมาแล้วหาหมวดไม่เจอ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7705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03250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89534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ดึงลง (pull) ของใหม่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187952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เทียบเวลาแก้ไขล่าสุด ใครแก้ทีหลังชนะ (last-write-wins) ของในเครื่องที่ใหม่กว่าจะไม่ถูกทับ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365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75487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เซิร์ฟเวอร์เป็นคนให้แต้ม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04748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แอปส่งแค่ว่า “ติ๊กแล้ว” ไม่ส่งจำนวนแต้ม เซิร์ฟเวอร์คิดเองครั้งละ 10 แต้ม แล้วส่งค่าจริงกลับมา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298448"/>
            <a:ext cx="33832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183879" y="1298448"/>
            <a:ext cx="54864" cy="4297680"/>
          </a:xfrm>
          <a:prstGeom prst="rect">
            <a:avLst/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412480" y="1517904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ลบแล้วแต้มหายตามจริง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011680"/>
            <a:ext cx="292608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เมื่อผู้ใช้ลบ habit ถาวร แอปจะปั๊มเวลาลบให้ทั้งประวัติการติ๊กด้วย แล้วส่งขึ้นเซิร์ฟเวอร์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/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ฝั่งเซิร์ฟเวอร์ตั้งแต้มของแถวที่ถูกลบเป็น 0 แล้วหักส่วนต่างคืนจากยอดรวม พร้อมจดลงสมุดบัญชีแต้ม (point_events) ให้ตรวจย้อนได้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/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ผลคือกดลบเพื่อเลี่ยงคะแนนติดลบไม่ได้ และมีปุ่ม “พักไว้ก่อน” แยกไว้สำหรับคนที่อยากเอาออกจากหน้าหลักโดยไม่เสียแต้ม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875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Noto Looped Thai"/>
              </a:rPr>
              <a:t>สถานะการซิงก์แสดงบนหน้าจอ: กำลังซิงก์ / สำเร็จ / ล้มเหลว พร้อมข้อความภาษาคน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ความปลอดภัยของข้อมูลและการกันโกงแต้ม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ข้อมูลพฤติกรรมเป็นเรื่องส่วนตัวมาก การออกแบบจึงเปิดเผยเท่าที่จำเป็นเท่านั้น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เห็นได้แค่ชื่อ แรงค์ แต้ม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98448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1298448"/>
            <a:ext cx="54864" cy="2103120"/>
          </a:xfrm>
          <a:prstGeom prst="rect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ล็อกข้อมูลทีละแถว (RLS)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30632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เปิด Row Level Security ทั้ง 4 ตารางหลัก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habit และบันทึกการติ๊ก: เห็นและแก้ได้แค่ของตัวเอง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โปรไฟล์: อ่านได้ (ใช้ทำกระดานอันดับ) แต่แก้แต้มตัวเองไม่ได้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98448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43400" y="1298448"/>
            <a:ext cx="54864" cy="2103120"/>
          </a:xfrm>
          <a:prstGeom prst="rect">
            <a:avLst/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0" y="1517904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กันโกงแต้ม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632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แอปไม่เคยส่งจำนวนแต้มขึ้นไป เซิร์ฟเวอร์คิดเองทั้งหมด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ทุกการเปลี่ยนแต้มถูกจดลงสมุดบัญชี ตรวจย้อนได้ทุกรายการ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• แก้แต้มคนอื่นได้เฉพาะผู้ดูแลระบบผ่านฟังก์ชันที่ตรวจสิทธิ์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98448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20" y="1298448"/>
            <a:ext cx="54864" cy="2103120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5320" y="1517904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ไม่ส่งชื่อ habit ออกไปเด็ดขาด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30632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กระดานอันดับและโปรไฟล์คนอื่นส่งออกแค่ ชื่อผู้ใช้ · ระดับ · แต้ม · แต้มแยกด้าน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Noto Looped Thai"/>
              </a:rPr>
              <a:t>ไม่ส่งชื่อ habit โน้ต ค่าที่กรอก หรือปฏิทินรายวัน เพราะชื่อ habit บอกเรื่องส่วนตัวได้มาก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" y="3703320"/>
          <a:ext cx="109270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754880"/>
                <a:gridCol w="352044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เรื่อง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สิ่งที่ทำ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ถ้าไม่ทำจะเกิดอะไร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กุญแจเชื่อมต่อเซิร์ฟเวอร์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ส่งเข้าตอนสร้างแอป ไม่เขียนติดในโค้ด และไม่ขึ้น GitHub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คีย์รั่วไปกับ source code ที่เปิดสาธารณะ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เวลาของเซิร์ฟเวอร์ต่างจากไทย 7 ชม.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ให้แอปส่งวันที่ของผู้ใช้ไปด้วย ไม่ใช้วันที่ของเซิร์ฟเวอร์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ตอนตี 1 ที่ไทย เซิร์ฟเวอร์ยังเป็นเมื่อวาน วันต่อเนื่องจะหายไป 1 วัน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ชื่อผู้ใช้ซ้ำกัน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ตรวจก่อนกดสมัคร และหลังบ้านไล่เติมเลขท้ายให้เอง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การสมัครล้มทั้งรายการ ผู้ใช้เห็นแค่ข้อความผิดพลาดที่ไม่บอกอะไร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วิธีดำเนินการพัฒนา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พัฒนาตั้งแต่ 4 มิถุนายน ถึง 22 กันยายน 2569 มีหลักฐานจาก Git ทุกขั้น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หลักฐานจาก Git และชุดทดสอบ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72184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38074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40817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เก็บปัญหาผู้ใช้ที่เลิกทำนิสัยกลางคัน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57400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122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13969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ออกแบบ 3 ตารางในเครื่อง และสถาปัตยกรรม 4 ชั้น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84378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871215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Flutter + drift + Riverpod · 11 หน้าจอ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40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3666744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5753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60273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แจ้งเตือน · N ครั้ง/สัปดาห์ · ส่งออกข้อมูล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51960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4398264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3068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33425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เพิ่มระบบสมาชิก ซิงก์คลาวด์ แต้ม และกระดานอันดับ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83480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129784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Looped Tha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03834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06577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ชุดทดสอบ 105 กรณี + ทดสอบหน้าจอจริง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132588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955279" y="1325880"/>
            <a:ext cx="54864" cy="4160520"/>
          </a:xfrm>
          <a:prstGeom prst="rect">
            <a:avLst/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83879" y="154533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หลักฐานการพัฒนา (วัดจริง)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039112"/>
            <a:ext cx="3154680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โค้ดที่เขียนเอง 56 ไฟล์ Dart รวม 7,589 บรรทัด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ชุดทดสอบ 12 ไฟล์ 1,500 บรรทัด รวม 105 กรณี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25 commit ตั้งแต่ 4 มิ.ย. – 22 ก.ย. 2569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11 หน้าจอ · แม่แบบ habit 18 รายการ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ฐานข้อมูลคลาวด์ 5 ตาราง · 15 ฟังก์ชันฝั่งเซิร์ฟเวอร์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ไฟล์ติดตั้ง app-release.apk ขนาด 63.8 MB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คู่มือติดตั้ง SETUP.md ที่ผู้อื่นทำตามแล้วรันได้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ผลการพัฒนา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แอปใช้งานได้จริงครบทุกฟังก์ชันในขอบเขต และมีระบบออนไลน์ที่ทดสอบกับเซิร์ฟเวอร์จริงแล้ว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ฟังก์ชันครบ พร้อมให้ตรวจ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1737360" cy="1783080"/>
          </a:xfrm>
          <a:prstGeom prst="roundRect">
            <a:avLst>
              <a:gd name="adj" fmla="val 8000"/>
            </a:avLst>
          </a:prstGeom>
          <a:solidFill>
            <a:srgbClr val="E7F5ED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2F855A"/>
                </a:solidFill>
                <a:latin typeface="Noto Looped Tha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F855A"/>
                </a:solidFill>
                <a:latin typeface="Noto Looped Thai"/>
              </a:rPr>
              <a:t>ขอบเขตเดิม 9/9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325880"/>
            <a:ext cx="40233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880360" y="1325880"/>
            <a:ext cx="54864" cy="1874519"/>
          </a:xfrm>
          <a:prstGeom prst="rect">
            <a:avLst/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08960" y="1545336"/>
            <a:ext cx="3611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บันทึกพฤติกรรมประจำวัน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47088"/>
            <a:ext cx="2286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เลือกวันจากแถบวันที่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กดติ๊ก · กรอกค่าตัวเลข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กดค้างเพื่อแก้ไข พัก หรือลบ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25880"/>
            <a:ext cx="406908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223760" y="1325880"/>
            <a:ext cx="54864" cy="1874519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52360" y="1545336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สถิติและความต่อเนื่อง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47088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Streak ปัจจุบัน / สูงสุด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ปฏิทินย้อนหลัง 1 ปี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กราฟแท่งรายสัปดาห์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819656"/>
            <a:ext cx="626779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847088"/>
            <a:ext cx="571915" cy="117043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406640" y="1819656"/>
            <a:ext cx="626779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02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847088"/>
            <a:ext cx="571915" cy="117043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2960" y="3566160"/>
            <a:ext cx="104698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97280" y="37673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ประโยคที่ควรพูด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730752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Noto Looped Thai"/>
              </a:rPr>
              <a:t>“ขอบเขตเดิม 9 ฟังก์ชันพัฒนาเสร็จครบ 100% ผ่านชุดทดสอบอัตโนมัติ 105 กรณี และพัฒนาส่วนขยายออนไลน์เพิ่มอีก 4 ฟังก์ชัน โดยทดสอบกับเซิร์ฟเวอร์จริงแล้วว่า สมัคร → ติ๊ก → ซิงก์ → ได้แต้ม → ขึ้นกระดานอันดับ ครบวงจร”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983480"/>
            <a:ext cx="10469880" cy="100584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 w="9525">
            <a:solidFill>
              <a:srgbClr val="F3D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78992" y="5248656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8A5B00"/>
                </a:solidFill>
                <a:latin typeface="Noto Looped Thai"/>
              </a:rPr>
              <a:t>ขอบเขตภาพ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138928"/>
            <a:ext cx="8458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ภาพหน้าจอเป็นข้อมูลตัวอย่างที่สร้างไว้สาธิต · โค้ดชุดเดียวกับไฟล์ APK ที่ส่งมอบ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หน้าจอที่พัฒนาเสร็จแล้ว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ภาพจากแอปที่รันจริงด้วยข้อมูลตัวอย่าง ครอบคลุมทุกฟังก์ชันหลัก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11 หน้าจอ · ภาพจากแอปจริง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389888"/>
            <a:ext cx="1194227" cy="2386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417320"/>
            <a:ext cx="1139363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88620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C2D48"/>
                </a:solidFill>
                <a:latin typeface="Noto Looped Thai"/>
              </a:rPr>
              <a:t>หน้าหลัก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Looped Thai"/>
              </a:rPr>
              <a:t>ติ๊กรายวัน · ค่าตัวเลข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389888"/>
            <a:ext cx="1194227" cy="2386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08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1" y="1417320"/>
            <a:ext cx="1139363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23744" y="388620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C2D48"/>
                </a:solidFill>
                <a:latin typeface="Noto Looped Thai"/>
              </a:rPr>
              <a:t>เมนูกดค้าง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1605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Looped Thai"/>
              </a:rPr>
              <a:t>แก้ไข · พักไว้ · ลบถาวร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4" y="1389888"/>
            <a:ext cx="1194227" cy="2386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02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417320"/>
            <a:ext cx="1139363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07408" y="388620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C2D48"/>
                </a:solidFill>
                <a:latin typeface="Noto Looped Thai"/>
              </a:rPr>
              <a:t>สถิติ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1605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Looped Thai"/>
              </a:rPr>
              <a:t>Streak · ปฏิทิน 1 ปี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6248" y="1389888"/>
            <a:ext cx="1194227" cy="2386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04_add_hab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417320"/>
            <a:ext cx="1139363" cy="2331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91072" y="388620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C2D48"/>
                </a:solidFill>
                <a:latin typeface="Noto Looped Thai"/>
              </a:rPr>
              <a:t>เพิ่ม habit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1605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Looped Thai"/>
              </a:rPr>
              <a:t>ความถี่ · เวลาเตือน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9912" y="1389888"/>
            <a:ext cx="1194227" cy="2386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05_templa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417320"/>
            <a:ext cx="1139363" cy="2331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74736" y="388620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C2D48"/>
                </a:solidFill>
                <a:latin typeface="Noto Looped Thai"/>
              </a:rPr>
              <a:t>แม่แบบ 18 รายการ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1605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Looped Thai"/>
              </a:rPr>
              <a:t>เลือกแล้วใช้ได้ทันที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23576" y="1389888"/>
            <a:ext cx="1194227" cy="2386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09_man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1008" y="1417320"/>
            <a:ext cx="1139363" cy="2331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58400" y="388620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C2D48"/>
                </a:solidFill>
                <a:latin typeface="Noto Looped Thai"/>
              </a:rPr>
              <a:t>จัดการ habit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1605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Looped Thai"/>
              </a:rPr>
              <a:t>รายการที่พักไว้ · เลิกพัก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92040"/>
            <a:ext cx="10927080" cy="109728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 w="9525">
            <a:solidFill>
              <a:srgbClr val="F3D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6112" y="5157216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8A5B00"/>
                </a:solidFill>
                <a:latin typeface="Noto Looped Thai"/>
              </a:rPr>
              <a:t>หมายเหตุ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047488"/>
            <a:ext cx="8915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ภาพทั้งหมดแคปจากแอปที่รันจริงด้วยโค้ดชุดเดียวกับไฟล์ APK · ข้อมูลในภาพเป็นข้อมูลตัวอย่างที่สร้างไว้สาธิต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หน้าเข้าสู่ระบบและกระดานอันดับสาธิตสดในวันสอบ เพราะต้องต่อเซิร์ฟเวอร์จริงและใช้บัญชีจริง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Demo Scenario — ลำดับการสาธิต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สาธิตบนมือถือจริงหรืออีมูเลเตอร์ ใช้เวลา 3–4 นาที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ออฟไลน์ → ออนไลน์ → อันดับ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585216" cy="585216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362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เตรียมระบบ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39903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ติดตั้งแอปจากไฟล์ APK · เตรียมข้อมูลตัวอย่างที่มี Streak หลายวัน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57400"/>
            <a:ext cx="585216" cy="585216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22199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0939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ใช้แบบออฟไลน์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13055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กด “ข้ามก่อน” → เพิ่ม habit จากแม่แบบ → ติ๊กของวันนี้ → ปิดเน็ตแล้วติ๊กต่อ ยังทำได้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585216" cy="585216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2953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28254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ดูสถิติ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86207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เปิดหน้าสถิติ → Streak ปัจจุบัน/สูงสุด → ปฏิทิน 1 ปี → กราฟรายสัปดาห์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40"/>
            <a:ext cx="585216" cy="585216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368503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57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ลบและพัก habit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59359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กดค้างที่การ์ด → “พักไว้ก่อน” แล้วเลิกพัก → “ลบถาวร” พร้อมกล่องยืนยัน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51960"/>
            <a:ext cx="585216" cy="585216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441655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8853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สมัครและซิงก์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32511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สมัครสมาชิก → ข้อมูลที่ทำตอนออฟไลน์ถูกผูกเข้าบัญชี → ซิงก์ขึ้นคลาวด์ → แต้มขึ้น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83480"/>
            <a:ext cx="585216" cy="585216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14807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50200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กระดานอันดับ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05663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เปิดกระดานอันดับ → สลับโหมดสัปดาห์นี้/ตลอดกาล → แตะชื่อคนอื่นดูโปรไฟล์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80644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8A5B00"/>
                </a:solidFill>
                <a:latin typeface="Noto Looped Thai"/>
              </a:rPr>
              <a:t>เตรียมวิดีโอสาธิตสำรองไว้ด้วย เผื่อเน็ตหน้างานมีปัญหา — ขั้น E และ F ต้องใช้อินเทอร์เน็ต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แผนการทดสอบและวิธีประเมิน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ทดสอบ 6 ด้าน แต่ละด้านมีวิธีทดสอบและเกณฑ์ผ่านชัดเจน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Test case ชัด + เกณฑ์ผ่านชัด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2708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852160"/>
                <a:gridCol w="278892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ประเภททดสอบ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วิธีทดสอบ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เกณฑ์ผ่าน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Unit 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ตัวคำนวณ Streak · ความถี่รายสัปดาห์ · ตัวส่งออกข้อมูล · ข้อความผิดพลาด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ผ่านทุกกรณีที่กำหนด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Widget Test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การ์ด habit แสดงชื่อ ค่าตัวเลข สถานะ และกดค้างเปิดเมนูได้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Database 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เพิ่ม–แก้–ลบ–พัก habit และอ่าน–เขียน log บนฐานข้อมูลจริง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ข้อมูลตรงทุกกรณี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Sync Test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ตรวจว่าแถวที่แก้ถูกตั้งสถานะรอส่ง และการลบถูกส่งไปให้เซิร์ฟเวอร์หักแต้ม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ไม่มีข้อมูลค้างในเครื่อง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UI Test (อัตโนมัติ)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สั่งเบราว์เซอร์กดแอปจริง: บันทึก · Streak · ค่าตัวเลข · ธีม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ผลตรงกับที่คาดไว้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End-to-end บนเซิร์ฟเวอร์จริง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สมัคร → ติ๊ก → ซิงก์ → ตรวจแต้ม → ตรวจอันดับ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แต้มและอันดับตรงกับที่ทำ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92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4892040"/>
            <a:ext cx="54864" cy="109728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511149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เครื่องมือที่ใช้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05272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flutter test · flutter analyze · สั่งเบราว์เซอร์กดแอปจริง · flutter build apk · Supabase SQL Editor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92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0" y="4892040"/>
            <a:ext cx="54864" cy="1097280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511149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ข้อจำกัดของการทดสอบ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605272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แจ้งเตือนทดสอบด้วยชุดทดสอบการตั้งเวลา ยังไม่ได้ทดสอบเสียงเตือนเด้งบนมือถือจริง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ผลการทดสอบและตัวชี้วัด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ผลวัดจริงจากการรันทดสอบ ไม่ใช่ค่าประมาณ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ตัวเลข + วิธีวัด + วันที่วัด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252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ผลการทดสอบจริง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536192"/>
          <a:ext cx="7315200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08760"/>
                <a:gridCol w="1691640"/>
                <a:gridCol w="100584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รายการทดสอบ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เกณฑ์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ผลจริง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ผล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ชุดทดสอบทั้งหมด (flutter test)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105 / 105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ตรวจโค้ด (flutter analyze)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ไม่มีคำเตือน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No issues found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ตัวคำนวณ Streak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ตรงทุกกรณี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ความถี่ N ครั้งต่อสัปดาห์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นับเป็นสัปดาห์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บันทึกแล้วปิด–เปิดแอปใหม่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ข้อมูลคงอยู่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ข้อมูลคงอยู่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พัก habit แล้วเลิกพัก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กลับมาโชว์ ประวัติไม่หาย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ลบถาวรแล้วประวัติต้องถูกส่งไปหักแต้ม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แถวที่ลบถูกส่งครบ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สมัคร → ติ๊ก → ซิงก์ → ได้แต้ม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แต้มขึ้นตามที่ทำ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ครบวงจร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สร้างไฟล์ติดตั้ง APK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สร้างสำเร็จ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Noto Looped Thai"/>
                        </a:rPr>
                        <a:t>63.8 MB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75320" y="1536192"/>
            <a:ext cx="32918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275320" y="1536192"/>
            <a:ext cx="54864" cy="416052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03920" y="1755648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รายละเอียดการทดสอบ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49424"/>
            <a:ext cx="2834640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วันที่วัด: 22 กันยายน 2569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ชุดทดสอบในโค้ด 12 ไฟล์ 1,500 บรรทัด สั่งรันด้วย flutter test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ทดสอบหน้าจอ: สั่งเบราว์เซอร์กดแอปจริงแบบอัตโนมัติ เก็บภาพหน้าจอทุกขั้น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ทดสอบระบบออนไลน์บนเซิร์ฟเวอร์จริงของโครงงาน ไม่ใช่ข้อมูลจำลอง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ภาพหลักฐานอยู่ในโฟลเดอร์ docs/test_evidence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ผลทดสอบตอบวัตถุประสงค์ครบทั้ง 4 ข้อ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ปัญหาที่พบ การแก้ไข และข้อจำกัด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ปัญหาจริงระหว่างพัฒนา พร้อมสาเหตุ วิธีแก้ และผลหลังแก้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ปัญหา → สาเหตุ → วิธีแก้ → ผล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80160"/>
          <a:ext cx="10927080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3017520"/>
                <a:gridCol w="24231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ปัญหาที่พบ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สาเหตุ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วิธีแก้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ผลหลังแก้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Streak แสดง 1 วัน ทั้งที่ทำติดกัน 9 วัน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ตัวคำนวณเอาช่วงที่ทำติดกันซึ่งเก่ากว่า มาเขียนทับค่าปัจจุบัน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หยุดนับค่าปัจจุบันทันทีที่เจอวันแรกที่ขาด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ค่าตรงกับข้อมูลจริงทุกกรณี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สมัครสมาชิกไม่ได้ ขึ้นข้อความผิดพลาดที่ไม่บอกอะไร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ชื่อผู้ใช้ซ้ำแล้วคำสั่งสร้างโปรไฟล์ล้ม ลามไปทำให้การสมัครล้มทั้งรายการ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ให้หลังบ้านไล่เติมเลขท้ายหาชื่อว่าง และให้แอปตรวจชื่อก่อนกดสมัคร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สมัครผ่าน และผู้ใช้รู้ล่วงหน้าว่าชื่อซ้ำ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ลบ habit แล้วแต้มบนเซิร์ฟเวอร์ไม่ลด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คำสั่งลบทำแค่ระดับ habit ไม่ได้ปั๊มเวลาลบให้ประวัติการติ๊กด้วย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ลบประวัติไปพร้อมกัน แล้วให้ตัวคิดแต้มฝั่งเซิร์ฟเวอร์หักส่วนต่างคืนเอง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แต้มลดตามจริง กดลบเลี่ยงคะแนนไม่ได้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วันต่อเนื่องหายไป 1 วันเมื่อเช็คตอนกลางคืน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เซิร์ฟเวอร์เดินเวลาแบบ UTC ซึ่งช้ากว่าไทย 7 ชั่วโมง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ให้แอปส่งวันที่ของผู้ใช้ขึ้นไปด้วย ไม่ใช้วันที่ของเซิร์ฟเวอร์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นับวันตรงกับเวลาไทยทุกกรณี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คอมไพล์ไม่ผ่าน หาคลาส Habit ไม่เจอ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drift ต้องสร้างไฟล์โค้ดอัตโนมัติก่อน จึงจะมีคลาสให้เรียกใช้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สั่ง build_runner ทุกครั้งที่แก้ตาราง และบันทึกขั้นตอนไว้ใน SETUP.md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F2937"/>
                          </a:solidFill>
                          <a:latin typeface="Noto Looped Thai"/>
                        </a:rPr>
                        <a:t>คอมไพล์ผ่าน เพื่อนทำตามคู่มือได้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32120"/>
            <a:ext cx="10927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Looped Thai"/>
              </a:rPr>
              <a:t>ทุกปัญหาในตารางนี้มี commit ที่แก้จริงใน Git ตรวจย้อนได้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ส่วนที่กำลังพัฒนาต่อ และข้อจำกัดที่ยังเหลือ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แยกให้ชัดว่าอะไรเสร็จแล้ว และอะไรยังไม่เสร็จ ไม่เคลมเกินของจริง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ยังไม่เสร็จ พูดตรง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49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54864" cy="269748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49961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กำลังพัฒนา: หมวดหมู่ 4 ด้าน + คะแนนต่อเนื่อง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1"/>
            <a:ext cx="4892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แบ่งเป็น 5 ก้อน ทำวันละก้อน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1. ลบ / พัก habit จากหน้าหลัก — เสร็จ 22 ก.ย. 2569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2. ยุบเป็น 4 หมวด: ร่างกาย · การกิน · การนอน · จิตใจ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3. habit แบบเลือก 3 ระดับ (วันนี้รู้สึกดีไหม มาก/กลาง/น้อย)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4. คะแนนตามความต่อเนื่อง ทำครบ 4 หมวดได้ 40 คะแนน/วัน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    ไม่ทำถูกหักคะแนน เหมือนคะแนนแรงค์ในเกม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5. หลอดคะแนนรวมและแยกแต่ละด้าน + อันดับแยกด้าน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49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4864" cy="2697480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149961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ข้อจำกัดที่ยังเหลือ (ยังไม่ได้ทำ)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93391"/>
            <a:ext cx="4892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ยังไม่ได้ทดสอบเสียงแจ้งเตือนเด้งบนมือถือจริง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ยังไม่ได้ทดลองกับผู้ใช้จริงและเก็บแบบประเมินความพึงพอใจ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รหัสแอปยังเป็นค่าเริ่มต้น com.example ต้องเปลี่ยนก่อนเผยแพร่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ยังไม่ได้เผยแพร่ขึ้น Play Store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• เซิร์ฟเวอร์ใช้แผนฟรี ถ้าไม่มีใครใช้ 7 วันจะถูกพักอัตโนมัติ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80" b="0">
                <a:solidFill>
                  <a:srgbClr val="1F2937"/>
                </a:solidFill>
                <a:latin typeface="Noto Looped Thai"/>
              </a:rPr>
              <a:t>    ต้องเข้าไปปลุกก่อนวันสอบ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927080" cy="155448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 w="9525">
            <a:solidFill>
              <a:srgbClr val="F3D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4471416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8A5B00"/>
                </a:solidFill>
                <a:latin typeface="Noto Looped Thai"/>
              </a:rPr>
              <a:t>สิ่งที่ต้องเตรียมก่อนวันสอบ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61688"/>
            <a:ext cx="8915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1) เข้าหน้าจัดการเซิร์ฟเวอร์เพื่อปลุกโปรเจคให้ตื่น แล้วลองสมัคร–ติ๊ก–ดูอันดับให้ครบหนึ่งรอบ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2) ติดตั้งไฟล์ APK ล่าสุดลงมือถือที่จะใช้สาธิต และเปิดใช้ครั้งหนึ่งก่อน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3) เตรียมวิดีโอสาธิตสำรอง เผื่ออินเทอร์เน็ตหน้างานใช้ไม่ได้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ผลส่งมอบของโครงงาน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สิ่งที่กรรมการตรวจรับได้หลังการสอบ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ของจริง + เอกสาร +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98448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39903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33502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แอปที่ติดตั้งได้จริง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31673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app-release.apk ขนาด 63.8 MB · ติดตั้งบนมือถือ Android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29967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130551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066543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Source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048255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Git 25 commit · โค้ดที่เขียนเอง 56 ไฟล์ Dart รวม 7,589 บรรทัด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61488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79806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ฐานข้อมูล / โครงสร้าง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7977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SQLite ในเครื่อง 3 ตาราง · คลาวด์ 5 ตาราง + 15 ฟังก์ชัน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493008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359359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52958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สคริปต์ติดตั้งเซิร์ฟเวอร์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51129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ไฟล์ SQL ในโฟลเดอร์ supabase/ รันซ้ำได้ไม่ทำข้อมูลเสีย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24528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43251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26110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เอกสารโครงงาน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24281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คู่มือติดตั้ง SETUP.md · README · เอกสารนำเสนอชุดนี้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56048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05663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99262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C2D48"/>
                </a:solidFill>
                <a:latin typeface="Noto Looped Thai"/>
              </a:rPr>
              <a:t>หลักฐานทดสอบ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97433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ผล flutter test 105 กรณี · ภาพหน้าจอผลทดสอบทุกขั้น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1389888"/>
            <a:ext cx="9074624" cy="3072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03_evidenc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417320"/>
            <a:ext cx="9019760" cy="30175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55279" y="461772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Looped Thai"/>
              </a:rPr>
              <a:t>ผลรัน flutter test จริง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สรุปผลเทียบกับวัตถุประสงค์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หลักฐานว่าวัตถุประสงค์ทั้ง 4 ข้อบรรลุครบ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วัตถุประสงค์ → หลักฐาน → สถานะ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2708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577840"/>
                <a:gridCol w="123444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วัตถุประสงค์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หลักฐาน / ผลที่ได้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สถานะ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 1: บันทึกพฤติกรรมประจำวันแบบออฟไลน์ ไม่บังคับสมัครสมาชิก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บันทึกลง SQLite ในเครื่อง · ปิดแอปแล้วเปิดใหม่ข้อมูลยังอยู่ (ทดสอบแล้ว)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F855A"/>
                          </a:solidFill>
                          <a:latin typeface="Noto Looped Thai"/>
                        </a:rPr>
                        <a:t>บรรลุ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 2: คำนวณ Streak อัตราสำเร็จ และปฏิทินย้อนหลัง 1 ปี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หน้าสถิติแสดงครบ · ชุดทดสอบตัวคำนวณผ่านทุกกรณี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F855A"/>
                          </a:solidFill>
                          <a:latin typeface="Noto Looped Thai"/>
                        </a:rPr>
                        <a:t>บรรลุ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 3: รองรับความถี่หลายแบบ แจ้งเตือน และส่งออกข้อมูล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รายวัน / เลือกวัน / N ครั้งต่อสัปดาห์ · ตั้งเวลาเตือน · ส่งออก CSV–JSON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F855A"/>
                          </a:solidFill>
                          <a:latin typeface="Noto Looped Thai"/>
                        </a:rPr>
                        <a:t>บรรลุ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 4: สมัครสมาชิกแล้วซิงก์ข้ามเครื่อง มีแต้มและกระดานอันดับ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Noto Looped Thai"/>
                        </a:rPr>
                        <a:t>ทดสอบบนเซิร์ฟเวอร์จริง: สมัคร → ติ๊ก → ซิงก์ → ได้แต้ม → ขึ้นอันดับ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F855A"/>
                          </a:solidFill>
                          <a:latin typeface="Noto Looped Thai"/>
                        </a:rPr>
                        <a:t>บรรลุ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343400"/>
            <a:ext cx="10927080" cy="1417320"/>
          </a:xfrm>
          <a:prstGeom prst="roundRect">
            <a:avLst>
              <a:gd name="adj" fmla="val 12000"/>
            </a:avLst>
          </a:prstGeom>
          <a:solidFill>
            <a:srgbClr val="E7F5ED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10195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B5E3F"/>
                </a:solidFill>
                <a:latin typeface="Noto Looped Thai"/>
              </a:rPr>
              <a:t>“โครงงานพัฒนาได้ครบตามขอบเขตทั้ง 9 ฟังก์ชัน ผ่านชุดทดสอบอัตโนมัติ 105 กรณี สร้างไฟล์ติดตั้งจริงได้ และพัฒนาส่วนขยายออนไลน์เพิ่มเติมจนใช้งานได้ครบวงจร จึงถือว่าดำเนินงานสำเร็จ 100% ของขอบเขตที่กำหนด”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ptos Display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D6E4EE"/>
                </a:solidFill>
                <a:latin typeface="Noto Looped Thai"/>
              </a:rPr>
              <a:t>พร้อมสาธิตแอป และตอบคำถามจากหลักฐานจริง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788920"/>
            <a:ext cx="6675120" cy="2148840"/>
          </a:xfrm>
          <a:prstGeom prst="roundRect">
            <a:avLst>
              <a:gd name="adj" fmla="val 6000"/>
            </a:avLst>
          </a:prstGeom>
          <a:solidFill>
            <a:srgbClr val="10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3035808"/>
            <a:ext cx="2560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BCE5E5"/>
                </a:solidFill>
                <a:latin typeface="Noto Looped Thai"/>
              </a:rPr>
              <a:t>พร้อมให้ตรวจสอบ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56432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20" b="0">
                <a:solidFill>
                  <a:srgbClr val="FFFFFF"/>
                </a:solidFill>
                <a:latin typeface="Noto Looped Thai"/>
              </a:rPr>
              <a:t>ติดตั้งจากไฟล์ APK บนมือถือได้ทันที · ใช้งานได้แม้ปิดอินเทอร์เน็ต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20" b="0">
                <a:solidFill>
                  <a:srgbClr val="FFFFFF"/>
                </a:solidFill>
                <a:latin typeface="Noto Looped Thai"/>
              </a:rPr>
              <a:t>Source code · ชุดทดสอบ 105 กรณี · ไฟล์ SQL ของเซิร์ฟเวอร์ เปิดตรวจได้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20" b="0">
                <a:solidFill>
                  <a:srgbClr val="FFFFFF"/>
                </a:solidFill>
                <a:latin typeface="Noto Looped Thai"/>
              </a:rPr>
              <a:t>พัฒนาเองทั้งระบบ: วิเคราะห์ → ออกแบบ → พัฒนา → ทดสอบ → สร้างไฟล์ติดตั้ง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20" b="0">
                <a:solidFill>
                  <a:srgbClr val="FFFFFF"/>
                </a:solidFill>
                <a:latin typeface="Noto Looped Thai"/>
              </a:rPr>
              <a:t>ทุกตัวเลขในสไลด์วัดจากการรันจริง ไม่มีค่าประมาณ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1051560"/>
            <a:ext cx="2423160" cy="2423160"/>
          </a:xfrm>
          <a:prstGeom prst="ellipse">
            <a:avLst/>
          </a:prstGeom>
          <a:solidFill>
            <a:srgbClr val="174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49640" y="1828800"/>
            <a:ext cx="2331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Noto Looped Tha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3840480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CE5E5"/>
                </a:solidFill>
                <a:latin typeface="Aptos"/>
              </a:rPr>
              <a:t>READY TO DEFEND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54880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Looped Thai"/>
              </a:rPr>
              <a:t>Habit Tracker · ภูตะวัน ทองวิลาศ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Looped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Looped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1930</Words>
  <Application>Microsoft Office PowerPoint</Application>
  <PresentationFormat>Widescreen</PresentationFormat>
  <Paragraphs>331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Noto Looped Thai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Chiang Mai Technical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แม่แบบนำเสนอสอบความก้าวหน้าโครงงาน 100%</dc:title>
  <dc:subject>แม่แบบนำเสนอสอบความก้าวหน้าโครงงาน 100% ระดับปริญญาตรี</dc:subject>
  <dc:creator>OpenAI</dc:creator>
  <cp:lastModifiedBy>Thanakit Tajanan</cp:lastModifiedBy>
  <cp:revision>12</cp:revision>
  <dcterms:created xsi:type="dcterms:W3CDTF">2026-09-15T05:15:01Z</dcterms:created>
  <dcterms:modified xsi:type="dcterms:W3CDTF">2026-09-21T07:36:10Z</dcterms:modified>
</cp:coreProperties>
</file>