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6"/>
    <p:sldId id="268" r:id="rId5"/>
    <p:sldId id="269" r:id="rId4"/>
    <p:sldId id="270" r:id="rId3"/>
    <p:sldId id="271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98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2D48"/>
          </a:solidFill>
          <a:ln w="12700">
            <a:solidFill>
              <a:srgbClr val="0C2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Noto Looped Thai" pitchFamily="34" charset="0"/>
                <a:ea typeface="Noto Looped Thai" pitchFamily="34" charset="-122"/>
                <a:cs typeface="Noto Looped Thai" pitchFamily="34" charset="-120"/>
              </a:rPr>
              <a:t>สอบความก้าวหน้าโครงงาน 100% | ระดับปริญญาตรี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0561320" y="6510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96"/>
                </a:solidFill>
                <a:latin typeface="Noto Looped Thai" pitchFamily="34" charset="0"/>
                <a:ea typeface="Noto Looped Thai" pitchFamily="34" charset="-122"/>
                <a:cs typeface="Noto Looped Thai" pitchFamily="34" charset="-120"/>
              </a:rPr>
              <a:t>วิชาโครงงาน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10160">
            <a:solidFill>
              <a:srgbClr val="DDE3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718096"/>
                </a:solidFill>
                <a:latin typeface="Noto Looped Thai"/>
                <a:ea typeface="Noto Looped Thai"/>
                <a:cs typeface="Noto Looped Tha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718096"/>
                </a:solidFill>
                <a:latin typeface="Noto Looped Thai"/>
                <a:ea typeface="Noto Looped Thai"/>
                <a:cs typeface="Noto Looped Tha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7955279" y="-1097280"/>
            <a:ext cx="5486400" cy="5486400"/>
          </a:xfrm>
          <a:prstGeom prst="ellipse">
            <a:avLst/>
          </a:prstGeom>
          <a:solidFill>
            <a:srgbClr val="174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098280" y="777240"/>
            <a:ext cx="2148840" cy="2148840"/>
          </a:xfrm>
          <a:prstGeom prst="ellipse">
            <a:avLst/>
          </a:prstGeom>
          <a:solidFill>
            <a:srgbClr val="174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070848" y="129844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Noto Looped Thai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9136" y="1865376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CE5E5"/>
                </a:solidFill>
                <a:latin typeface="Aptos"/>
              </a:rPr>
              <a:t>PROJECT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BCE5E5"/>
                </a:solidFill>
                <a:latin typeface="Aptos"/>
              </a:rPr>
              <a:t>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69494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100" b="1">
                <a:solidFill>
                  <a:srgbClr val="FFFFFF"/>
                </a:solidFill>
                <a:latin typeface="Noto Looped Thai"/>
              </a:rPr>
              <a:t>นำเสนอผลงานโครงงาน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100" b="1">
                <a:solidFill>
                  <a:srgbClr val="FFFFFF"/>
                </a:solidFill>
                <a:latin typeface="Noto Looped Thai"/>
              </a:rPr>
              <a:t>ความสำเร็จ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52928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>
                <a:solidFill>
                  <a:srgbClr val="D6E4EE"/>
                </a:solidFill>
                <a:latin typeface="Noto Looped Thai"/>
              </a:rPr>
              <a:t>Habit Tracker — Daily Habit Tracking Mobile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749039"/>
            <a:ext cx="6629400" cy="1417320"/>
          </a:xfrm>
          <a:prstGeom prst="roundRect">
            <a:avLst>
              <a:gd name="adj" fmla="val 7000"/>
            </a:avLst>
          </a:prstGeom>
          <a:solidFill>
            <a:srgbClr val="10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4041648"/>
            <a:ext cx="6126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Noto Looped Thai"/>
              </a:rPr>
              <a:t>ชื่อโครงงาน:  แอปพลิเคชันติดตามพฤติกรรมประจำวันบนมือถือ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Noto Looped Thai"/>
              </a:rPr>
              <a:t>ผู้จัดทำ:  ภูตะวัน ทองวิลาศ     รหัสนักศึกษา: 68409010016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Noto Looped Thai"/>
              </a:rPr>
              <a:t>อาจารย์ที่ปรึกษา:  นฐมนพรรณ สุวรรณชาตรี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080760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BCE5E5"/>
                </a:solidFill>
                <a:latin typeface="Noto Looped Thai"/>
              </a:rPr>
              <a:t>ติดตั้งจริงด้วยไฟล์ APK · ทดสอบอัตโนมัติผ่าน 45 กรณี  ·  วิทยาลัยเทคนิคเชียงใหม่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ปัญหาและความจำเป็นของโครงงาน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คนตั้งใจสร้างนิสัยใหม่แล้วเลิกกลางคัน เพราะไม่เห็นความต่อเนื่องของตัวเอง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เลิกกลางคัน · ดูย้อนหลังไม่ได้ · ต้องต่อเน็ต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34290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4864" cy="1874519"/>
          </a:xfrm>
          <a:prstGeom prst="rect">
            <a:avLst/>
          </a:prstGeom>
          <a:solidFill>
            <a:srgbClr val="C53030"/>
          </a:solidFill>
          <a:ln w="952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68680" y="1527048"/>
            <a:ext cx="420624" cy="420624"/>
          </a:xfrm>
          <a:prstGeom prst="ellipse">
            <a:avLst/>
          </a:prstGeom>
          <a:solidFill>
            <a:srgbClr val="C53030"/>
          </a:solidFill>
          <a:ln w="9525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1664207"/>
            <a:ext cx="420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Looped Tha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545336"/>
            <a:ext cx="24505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ปัญหาหลัก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039112"/>
            <a:ext cx="297180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• จดในสมุดหรือโน้ตมือถือ สรุปย้อนหลังไม่ได้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• ไม่รู้ว่าทำต่อเนื่องมากี่วัน จึงขาดแรงจูงใจ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• แอปในตลาดต้องสมัครสมาชิกและต่ออินเทอร์เน็ต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25880"/>
            <a:ext cx="34290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89120" y="1325880"/>
            <a:ext cx="54864" cy="1874519"/>
          </a:xfrm>
          <a:prstGeom prst="rect">
            <a:avLst/>
          </a:prstGeom>
          <a:solidFill>
            <a:srgbClr val="D69E2E"/>
          </a:solidFill>
          <a:ln w="9525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617720" y="1527048"/>
            <a:ext cx="420624" cy="420624"/>
          </a:xfrm>
          <a:prstGeom prst="ellipse">
            <a:avLst/>
          </a:prstGeom>
          <a:solidFill>
            <a:srgbClr val="D69E2E"/>
          </a:solidFill>
          <a:ln w="9525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17720" y="1664207"/>
            <a:ext cx="420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Looped Tha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1545336"/>
            <a:ext cx="24505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ผู้ใช้กลุ่มเป้าหมาย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039112"/>
            <a:ext cx="297180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• นักเรียน–นักศึกษาที่ต้องการสร้างวินัย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• วัยทำงานที่ติดตามพฤติกรรมสุขภาพ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• ผู้ที่ไม่ต้องการฝากข้อมูลส่วนตัวไว้บนคลาวด์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325880"/>
            <a:ext cx="342900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138160" y="1325880"/>
            <a:ext cx="54864" cy="1874519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366760" y="1527048"/>
            <a:ext cx="420624" cy="420624"/>
          </a:xfrm>
          <a:prstGeom prst="ellipse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66760" y="1664207"/>
            <a:ext cx="420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Noto Looped Tha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1545336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แนวทางที่พัฒนา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039112"/>
            <a:ext cx="297180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แอปบนมือถือที่เก็บข้อมูลในเครื่องด้วย SQLite ใช้งานออฟไลน์ ไม่ต้องสมัครสมาชิก คำนวณวันต่อเนื่องและอัตราสำเร็จอัตโนมัติ พร้อมแจ้งเตือนตามเวลาที่ตั้งไว้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566160"/>
            <a:ext cx="10927080" cy="1600200"/>
          </a:xfrm>
          <a:prstGeom prst="roundRect">
            <a:avLst>
              <a:gd name="adj" fmla="val 12000"/>
            </a:avLst>
          </a:prstGeom>
          <a:solidFill>
            <a:srgbClr val="FFF8E6"/>
          </a:solidFill>
          <a:ln w="9525">
            <a:solidFill>
              <a:srgbClr val="F3D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96112" y="3831335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8A5B00"/>
                </a:solidFill>
                <a:latin typeface="Noto Looped Thai"/>
              </a:rPr>
              <a:t>วิธีเดิม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721608"/>
            <a:ext cx="8915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20" b="0">
                <a:solidFill>
                  <a:srgbClr val="1F2937"/>
                </a:solidFill>
                <a:latin typeface="Noto Looped Thai"/>
              </a:rPr>
              <a:t>จดในสมุดหรือแอปโน้ต → ไม่มีการคำนวณย้อนหลัง → ไม่รู้ว่าขาดไปกี่วัน → เลิกทำ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20" b="0">
                <a:solidFill>
                  <a:srgbClr val="1F2937"/>
                </a:solidFill>
                <a:latin typeface="Noto Looped Thai"/>
              </a:rPr>
              <a:t>แอปสำเร็จรูปส่วนใหญ่ต้องสมัครสมาชิก ต่ออินเทอร์เน็ต และเป็นภาษาอังกฤษ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20" b="0">
                <a:solidFill>
                  <a:srgbClr val="1F2937"/>
                </a:solidFill>
                <a:latin typeface="Noto Looped Thai"/>
              </a:rPr>
              <a:t>ผลคือผู้ใช้ไม่เห็น “ความต่อเนื่อง” ซึ่งเป็นแรงจูงใจสำคัญที่สุดของการสร้างนิสัย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วัตถุประสงค์และเกณฑ์ความสำเร็จ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วัตถุประสงค์ 3 ข้อ ตรวจผลได้จากแอปจริงและผลการทดสอบอัตโนมัติ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ทุกข้อมีตัวชี้วัดที่ตรวจได้ในวันสอบ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64465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17007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วัตถุประสงค์ข้อ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572768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บันทึกพฤติกรรมประจำวันแบบออฟไลน์ ไม่ต้องสมัครสมาชิก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78608"/>
            <a:ext cx="64465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6112" y="290779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วัตถุประสงค์ข้อ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779776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คำนวณสถิติ Streak อัตราสำเร็จรายสัปดาห์ และปฏิทินย้อนหลัง 1 ปี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85616"/>
            <a:ext cx="64465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112" y="4114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วัตถุประสงค์ข้อ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986784"/>
            <a:ext cx="4069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รองรับความถี่หลายแบบ แจ้งเตือนตามเวลา และส่งออกข้อมูลได้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371600"/>
            <a:ext cx="4206240" cy="3538728"/>
          </a:xfrm>
          <a:prstGeom prst="roundRect">
            <a:avLst>
              <a:gd name="adj" fmla="val 7000"/>
            </a:avLst>
          </a:prstGeom>
          <a:solidFill>
            <a:srgbClr val="F2F7FB"/>
          </a:solidFill>
          <a:ln w="9525">
            <a:solidFill>
              <a:srgbClr val="C9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35240" y="169164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Success Criteria / ตัวชี้วัด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24028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• ฟังก์ชันตามขอบเขตครบ 9/9 รายการ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• ชุดทดสอบอัตโนมัติผ่านทุกกรณี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• ใช้งานได้ขณะปิดอินเทอร์เน็ต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• ปิดแอปแล้วเปิดใหม่ ข้อมูลไม่หาย</a:t>
            </a:r>
          </a:p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• สร้างไฟล์ APK ติดตั้งบนมือถือได้จริง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9240"/>
            <a:ext cx="10927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เกณฑ์: ฟังก์ชัน 9/9  |  flutter test 45/45  |  ใช้งานออฟไลน์  |  APK ติดตั้งได้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ขอบเขตระบบและฟังก์ชันที่ส่งมอบ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ทุกฟังก์ชันที่เสนอไว้พัฒนาเสร็จครบ พร้อมหลักฐานตรวจสอบ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ครบตามขอบเขต 9/9 รายการ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618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0C2D48"/>
                </a:solidFill>
                <a:latin typeface="Noto Looped Thai"/>
              </a:rPr>
              <a:t>ตารางสถานะฟังก์ชัน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7315200" cy="3941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914400"/>
                <a:gridCol w="2468880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ฟังก์ชัน / โมดูล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สถานะ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หลักฐาน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1. ฐานข้อมูล SQLite 3 ตาราง (drift)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app_database.dart + .g.dart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2. หน้าหลัก บันทึกพฤติกรรมรายวัน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ภาพหน้าจอ · สาธิตสด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3. เพิ่ม–แก้ habit + แม่แบบ 18 รายการ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add_habit · template_picker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4. สถิติ Streak · ปฏิทิน 1 ปี · กราฟ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analytics_screen + fl_chart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5. ธีมสว่าง / มืด และจำค่าไว้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settings + shared_preferences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6. แจ้งเตือนตามเวลาที่ตั้งไว้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notification_service + test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7. ความถี่ “N ครั้งต่อสัปดาห์”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weekly_frequency_test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8. จัดการหมวดหมู่ + ส่งออก CSV / JSON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manage_categories · exporter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9. ชุดทดสอบอัตโนมัติ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100%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6 ไฟล์ · 45 กรณี ผ่านหมด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275320" y="1600200"/>
            <a:ext cx="32918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275320" y="1600200"/>
            <a:ext cx="54864" cy="214884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03920" y="1819656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ขอบเขตข้อมูล / ผู้ใช้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13432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ใช้งานคนเดียวบนเครื่องตัวเอง ไม่มีระบบสมาชิก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เก็บข้อมูลในเครื่องด้วย SQLite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ผลลัพธ์: สถิติในแอป + ไฟล์ CSV / JSON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ภาษาไทยทั้งแอป + ธีมสว่างและมืด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913632"/>
            <a:ext cx="329184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275320" y="3913632"/>
            <a:ext cx="54864" cy="1874519"/>
          </a:xfrm>
          <a:prstGeom prst="rect">
            <a:avLst/>
          </a:prstGeom>
          <a:solidFill>
            <a:srgbClr val="D69E2E"/>
          </a:solidFill>
          <a:ln w="9525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503920" y="4133088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อยู่นอกขอบเขต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626864"/>
            <a:ext cx="28346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ระบบสมาชิกและการซิงก์ขึ้นคลาวด์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การแชร์ข้อมูลระหว่างผู้ใช้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1F2937"/>
                </a:solidFill>
                <a:latin typeface="Noto Looped Thai"/>
              </a:rPr>
              <a:t>• เวอร์ชัน iOS (โค้ดรองรับ แต่ไม่ได้ทดสอบ)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การออกแบบระบบ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แยกงานเป็น 4 ชั้น หน้าจอเฝ้าดูฐานข้อมูล ข้อมูลเปลี่ยนแล้วทุกหน้าที่เกี่ยวข้องอัปเดตเอง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UI → สถานะ → ข้อมูล → 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644652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5989320" cy="804672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5715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Noto Looped Thai"/>
              </a:rPr>
              <a:t>ชั้นแสดงผล (UI) — Flutter Widgets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29967"/>
            <a:ext cx="5715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80" b="0">
                <a:solidFill>
                  <a:srgbClr val="E4EEF7"/>
                </a:solidFill>
                <a:latin typeface="Noto Looped Thai"/>
              </a:rPr>
              <a:t>หน้าหลัก · สถิติ · เพิ่ม/แก้ habit · แม่แบบ · จัดการหมวดหมู่ · ตั้งค่า   |   นำทางด้วย go_router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703320" y="2441448"/>
            <a:ext cx="256032" cy="164592"/>
          </a:xfrm>
          <a:prstGeom prst="downArrow">
            <a:avLst/>
          </a:prstGeom>
          <a:solidFill>
            <a:srgbClr val="A8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2624328"/>
            <a:ext cx="5989320" cy="804672"/>
          </a:xfrm>
          <a:prstGeom prst="roundRect">
            <a:avLst>
              <a:gd name="adj" fmla="val 12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05840" y="2761488"/>
            <a:ext cx="5715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Noto Looped Thai"/>
              </a:rPr>
              <a:t>ชั้นสถานะและตรรกะ — Riverpod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54096"/>
            <a:ext cx="5715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80" b="0">
                <a:solidFill>
                  <a:srgbClr val="E4EEF7"/>
                </a:solidFill>
                <a:latin typeface="Noto Looped Thai"/>
              </a:rPr>
              <a:t>habitsProvider · dashboardProvider · analyticsProvider · heatmapProvider   |   StreakCalculator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703320" y="3465576"/>
            <a:ext cx="256032" cy="164592"/>
          </a:xfrm>
          <a:prstGeom prst="downArrow">
            <a:avLst/>
          </a:prstGeom>
          <a:solidFill>
            <a:srgbClr val="A8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648456"/>
            <a:ext cx="5989320" cy="804672"/>
          </a:xfrm>
          <a:prstGeom prst="roundRect">
            <a:avLst>
              <a:gd name="adj" fmla="val 12000"/>
            </a:avLst>
          </a:prstGeom>
          <a:solidFill>
            <a:srgbClr val="6D4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05840" y="3785616"/>
            <a:ext cx="5715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Noto Looped Thai"/>
              </a:rPr>
              <a:t>ชั้นข้อมูล — AppDatabase (drift ORM)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78224"/>
            <a:ext cx="5715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80" b="0">
                <a:solidFill>
                  <a:srgbClr val="E4EEF7"/>
                </a:solidFill>
                <a:latin typeface="Noto Looped Thai"/>
              </a:rPr>
              <a:t>watchActiveHabits() · watchLogsForDate() · upsertLog() · getAllLogsForHabit()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703320" y="4489704"/>
            <a:ext cx="256032" cy="164592"/>
          </a:xfrm>
          <a:prstGeom prst="downArrow">
            <a:avLst/>
          </a:prstGeom>
          <a:solidFill>
            <a:srgbClr val="A8B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4672584"/>
            <a:ext cx="5989320" cy="804672"/>
          </a:xfrm>
          <a:prstGeom prst="roundRect">
            <a:avLst>
              <a:gd name="adj" fmla="val 12000"/>
            </a:avLst>
          </a:prstGeom>
          <a:solidFill>
            <a:srgbClr val="3F4B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05840" y="4809744"/>
            <a:ext cx="5715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Noto Looped Thai"/>
              </a:rPr>
              <a:t>ฐานข้อมูล SQLite ในเครื่อง — habit_tracker.db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02352"/>
            <a:ext cx="5715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80" b="0">
                <a:solidFill>
                  <a:srgbClr val="E4EEF7"/>
                </a:solidFill>
                <a:latin typeface="Noto Looped Thai"/>
              </a:rPr>
              <a:t>Categories (1) —&lt; Habits (1) —&lt; HabitLogs   |   คีย์ไม่ซ้ำ: (habitId, loggedDate)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325880"/>
            <a:ext cx="420624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360920" y="1325880"/>
            <a:ext cx="54864" cy="429768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89520" y="1545336"/>
            <a:ext cx="3794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เครื่องมือและเหตุผลที่เลือก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039112"/>
            <a:ext cx="3749039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Flutter 3.44 + Dart — เขียนชุดเดียวได้ทั้ง Android และเว็บ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drift 2.21 + SQLite — ตรวจชนิดข้อมูลตั้งแต่ตอนคอมไพล์ ลดบั๊กคำสั่งค้นข้อมูล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flutter_riverpod 2.6 — หน้าจออัปเดตเองเมื่อข้อมูลเปลี่ยน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go_router 14.6 · fl_chart 0.69 · intl · shared_preferences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flutter_local_notifications 18 + timezone — ตั้งเวลาเตือนซ้ำทุกวัน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share_plus 13 — ส่งออกไฟล์ CSV / JSON ออกจากแอป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/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เหตุผลหลัก: เก็บข้อมูลในเครื่อง = ใช้งานได้แม้ไม่มีอินเทอร์เน็ต ไม่ต้องมีเซิร์ฟเวอร์ และข้อมูลส่วนตัวไม่ออกจากเครื่องผู้ใช้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วิธีดำเนินการพัฒนา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พัฒนาตั้งแต่ 4 มิถุนายน ถึง 16 กันยายน 2569 มีหลักฐานจาก Git ทุกขั้น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หลักฐานจาก Git และชุดทดสอบ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71600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566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Looped Tha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4475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4813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เก็บปัญหาผู้ใช้ที่เลิกทำนิสัยกลางคัน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212848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377440"/>
            <a:ext cx="566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Looped Tha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2860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3225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ออกแบบ 3 ตาราง และสถาปัตยกรรม 4 ชั้น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54096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218688"/>
            <a:ext cx="566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Looped Tha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1272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Develop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16382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Flutter + drift + Riverpod · 9 หน้าจอ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895344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059935"/>
            <a:ext cx="566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Looped Tha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6849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00507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แจ้งเตือน · N ครั้ง/สัปดาห์ · ส่งออกข้อมูล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736592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4901183"/>
            <a:ext cx="566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Noto Looped Tha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80974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8463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ชุดทดสอบ 45 กรณี + ทดสอบหน้าจอจริง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1371600"/>
            <a:ext cx="361188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955279" y="1371600"/>
            <a:ext cx="54864" cy="3794760"/>
          </a:xfrm>
          <a:prstGeom prst="rect">
            <a:avLst/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83879" y="1591056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หลักฐานการพัฒนา (ของจริง)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2084832"/>
            <a:ext cx="3154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• โค้ด 34 ไฟล์ Dart รวม 6,319 บรรทัด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• ชุดทดสอบ 6 ไฟล์ 646 บรรทัด รวม 45 กรณี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• 10 commit ตั้งแต่ 4 มิ.ย. – 16 ก.ย. 2569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• 9 หน้าจอ · แม่แบบ habit 18 รายการ 3 หมวด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• ไฟล์ติดตั้ง app-release.apk ขนาด 60.8 MB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• คู่มือติดตั้ง SETUP.md ที่ผู้อื่นทำตามแล้วรันได้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ผลการพัฒนา ณ สถานะ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แอปใช้งานได้จริงครบทุกฟังก์ชัน ติดตั้งด้วยไฟล์ APK บนมือถือ Android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ฟังก์ชันครบ 9/9 พร้อมให้ตรวจ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37160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E7F5ED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2F855A"/>
                </a:solidFill>
                <a:latin typeface="Noto Looped Tha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2F855A"/>
                </a:solidFill>
                <a:latin typeface="Noto Looped Thai"/>
              </a:rPr>
              <a:t>ฟังก์ชัน 9/9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371600"/>
            <a:ext cx="40233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971800" y="1371600"/>
            <a:ext cx="54864" cy="1920240"/>
          </a:xfrm>
          <a:prstGeom prst="rect">
            <a:avLst/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200400" y="1591056"/>
            <a:ext cx="3611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บันทึกพฤติกรรมประจำวัน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938528"/>
            <a:ext cx="2286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เลือกวันจากแถบวันที่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กดเช็ค habit · กรอกค่าตัวเลข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แถบสรุปความคืบหน้าของวัน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371600"/>
            <a:ext cx="40233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269480" y="1371600"/>
            <a:ext cx="54864" cy="192024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79" y="1591056"/>
            <a:ext cx="3611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สถิติและความต่อเนื่อง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938528"/>
            <a:ext cx="1783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Streak ปัจจุบัน / สูงสุด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ปฏิทินย้อนหลัง 1 ปี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กราฟแท่งรายสัปดาห์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1911096"/>
            <a:ext cx="611401" cy="1243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938528"/>
            <a:ext cx="556537" cy="11887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452360" y="1911096"/>
            <a:ext cx="611401" cy="1243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02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1938528"/>
            <a:ext cx="556537" cy="118872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22960" y="3703320"/>
            <a:ext cx="104698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97280" y="39502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0C2D48"/>
                </a:solidFill>
                <a:latin typeface="Noto Looped Thai"/>
              </a:rPr>
              <a:t>ประโยคที่ควรพูด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895344"/>
            <a:ext cx="80010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20" b="0">
                <a:solidFill>
                  <a:srgbClr val="1F2937"/>
                </a:solidFill>
                <a:latin typeface="Noto Looped Thai"/>
              </a:rPr>
              <a:t>“จากขอบเขต 9 ฟังก์ชัน พัฒนาเสร็จครบ 9 ฟังก์ชัน คิดเป็น 100% ผ่านชุดทดสอบอัตโนมัติ 45 กรณี และสร้างไฟล์ APK ติดตั้งบนมือถือจริงได้แล้ว”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645152"/>
            <a:ext cx="8001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C53030"/>
                </a:solidFill>
                <a:latin typeface="Noto Looped Thai"/>
              </a:rPr>
              <a:t>ภาพหน้าจอจากแอปที่รันจริง (ข้อมูลตัวอย่าง) · โค้ดชุดเดียวกับไฟล์ APK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หน้าจอที่พัฒนาเสร็จแล้ว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ภาพจากแอปที่รันจริงด้วยข้อมูลตัวอย่าง ครอบคลุมทุกฟังก์ชันหลัก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ภาพหน้าจอจริงทุกฟังก์ชัน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1435608"/>
            <a:ext cx="1167938" cy="24323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463040"/>
            <a:ext cx="1113074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977639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C2D48"/>
                </a:solidFill>
                <a:latin typeface="Noto Looped Thai"/>
              </a:rPr>
              <a:t>หน้าหลัก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Noto Looped Thai"/>
              </a:rPr>
              <a:t>บันทึกรายวัน · ค่าตัวเลข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1435608"/>
            <a:ext cx="1167938" cy="24323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02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1" y="1463040"/>
            <a:ext cx="1113074" cy="2377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23744" y="3977639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C2D48"/>
                </a:solidFill>
                <a:latin typeface="Noto Looped Thai"/>
              </a:rPr>
              <a:t>สถิติ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425196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Noto Looped Thai"/>
              </a:rPr>
              <a:t>Streak · ปฏิทิน 1 ปี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2584" y="1435608"/>
            <a:ext cx="1167938" cy="24323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04_add_ha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463040"/>
            <a:ext cx="1113074" cy="2377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07408" y="3977639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C2D48"/>
                </a:solidFill>
                <a:latin typeface="Noto Looped Thai"/>
              </a:rPr>
              <a:t>เพิ่ม habit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25196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Noto Looped Thai"/>
              </a:rPr>
              <a:t>ความถี่ · เวลาเตือน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6248" y="1435608"/>
            <a:ext cx="1167938" cy="24323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05_templa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463040"/>
            <a:ext cx="1113074" cy="2377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91072" y="3977639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C2D48"/>
                </a:solidFill>
                <a:latin typeface="Noto Looped Thai"/>
              </a:rPr>
              <a:t>แม่แบบ 18 รายการ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425196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Noto Looped Thai"/>
              </a:rPr>
              <a:t>3 หมวด เลือกแล้วใช้ได้ทันที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39912" y="1435608"/>
            <a:ext cx="1167938" cy="24323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07_categori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1463040"/>
            <a:ext cx="1113074" cy="23774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74736" y="3977639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C2D48"/>
                </a:solidFill>
                <a:latin typeface="Noto Looped Thai"/>
              </a:rPr>
              <a:t>จัดการหมวดหมู่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425196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Noto Looped Thai"/>
              </a:rPr>
              <a:t>เพิ่ม · แก้ไข · ลบ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23576" y="1435608"/>
            <a:ext cx="1167938" cy="24323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06_settin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1008" y="1463040"/>
            <a:ext cx="1113074" cy="23774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58400" y="3977639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C2D48"/>
                </a:solidFill>
                <a:latin typeface="Noto Looped Thai"/>
              </a:rPr>
              <a:t>ตั้งค่า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25196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Noto Looped Thai"/>
              </a:rPr>
              <a:t>ธีม · ส่งออกข้อมูล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83480"/>
            <a:ext cx="10927080" cy="1005840"/>
          </a:xfrm>
          <a:prstGeom prst="roundRect">
            <a:avLst>
              <a:gd name="adj" fmla="val 12000"/>
            </a:avLst>
          </a:prstGeom>
          <a:solidFill>
            <a:srgbClr val="FFF8E6"/>
          </a:solidFill>
          <a:ln w="9525">
            <a:solidFill>
              <a:srgbClr val="F3D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96112" y="5248656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8A5B00"/>
                </a:solidFill>
                <a:latin typeface="Noto Looped Thai"/>
              </a:rPr>
              <a:t>หมายเหตุ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5138928"/>
            <a:ext cx="8915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ภาพทั้งหมดแคปจากแอปที่รันจริงด้วยโค้ดชุดเดียวกับไฟล์ APK · ข้อมูลในภาพเป็นข้อมูลตัวอย่างที่สร้างไว้สาธิต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Demo Scenario — ลำดับการสาธิต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สาธิตบนมือถือจริงหรืออีมูเลเตอร์ ใช้เวลา 2–3 นาที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เพิ่ม → บันทึก → สถิติ → ส่งออก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71600"/>
            <a:ext cx="658368" cy="658368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Looped Tha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44475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เตรียมระบบ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48132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ติดตั้งแอปจากไฟล์ APK · เตรียมข้อมูลตัวอย่างที่มี Streak หลายวัน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240280"/>
            <a:ext cx="658368" cy="658368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44144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Looped Tha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3134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เพิ่ม habit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35000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กดปุ่มเพิ่ม → เลือกจากแม่แบบ 18 รายการ → ตั้งความถี่และเวลาแจ้งเตือน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08960"/>
            <a:ext cx="658368" cy="658368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31012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Looped Tha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18211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บันทึกประจำวัน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21868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กดเช็ค habit ของวันนี้ · กรอกค่าตัวเลข เช่น ดื่มน้ำ 7 จาก 8 แก้ว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77639"/>
            <a:ext cx="658368" cy="658368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178807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Looped Tha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050791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ดูสถิติ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08736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เปิดหน้าสถิติ → Streak ปัจจุบัน/สูงสุด → ปฏิทิน 1 ปี → กราฟรายสัปดาห์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46320"/>
            <a:ext cx="658368" cy="65836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04748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Noto Looped Thai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9194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ส่งออกและตรวจ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95604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ตั้งค่า → ส่งออก CSV/JSON → สลับธีมมืด → ปิดแอปเปิดใหม่ ข้อมูลยังอยู่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852160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8A5B00"/>
                </a:solidFill>
                <a:latin typeface="Noto Looped Thai"/>
              </a:rPr>
              <a:t>เตรียมวิดีโอสาธิตสำรองไว้ด้วย เผื่อเครื่องสาธิตมีปัญหาหน้างาน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แผนการทดสอบและวิธีประเมิน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ทดสอบ 5 ด้าน แต่ละด้านมีวิธีทดสอบและเกณฑ์ผ่านชัดเจน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Test case ชัด + เกณฑ์ผ่านชัด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27080" cy="323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035040"/>
                <a:gridCol w="2788920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ประเภททดสอบ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วิธีทดสอบ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เกณฑ์ผ่าน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Unit Test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ตัวคำนวณ Streak · ความถี่รายสัปดาห์ · ตัวส่งออกข้อมูล · ตัวตั้งเวลาแจ้งเตือน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ผ่านทุกกรณีที่กำหนด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Widget Test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การ์ด habit แสดงชื่อ ค่าตัวเลข และสถานะถูกต้อง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ผ่านทุกกรณี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Database Test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เพิ่ม–แก้–ลบหมวดหมู่ และอ่าน–เขียน log บนฐานข้อมูลจริง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ข้อมูลตรงทุกกรณี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UI Test (อัตโนมัติ)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สั่งเบราว์เซอร์กดแอปจริง: บันทึก · Streak · ค่าตัวเลข · ธีม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ผลตรงกับที่คาดไว้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Build / Deploy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สร้างไฟล์ APK แบบ release แล้วตรวจขนาดและการติดตั้ง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สร้างสำเร็จ ติดตั้งได้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663440"/>
            <a:ext cx="534924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4663440"/>
            <a:ext cx="54864" cy="132588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4882896"/>
            <a:ext cx="493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เครื่องมือที่ใช้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7667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flutter test (ชุดทดสอบในโค้ด) · Playwright สั่งเบราว์เซอร์กดแอปจริง · flutter build apk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63440"/>
            <a:ext cx="534924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17920" y="4663440"/>
            <a:ext cx="54864" cy="1325880"/>
          </a:xfrm>
          <a:prstGeom prst="rect">
            <a:avLst/>
          </a:prstGeom>
          <a:solidFill>
            <a:srgbClr val="D69E2E"/>
          </a:solidFill>
          <a:ln w="9525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46520" y="4882896"/>
            <a:ext cx="493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ข้อจำกัดของการทดสอบ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7667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แจ้งเตือนทดสอบด้วยชุดทดสอบการตั้งเวลา ยังไม่ได้ทดสอบเสียงเตือนเด้งบนมือถือจริง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ผลการทดสอบและตัวชี้วัด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ผลวัดจริงจากการรันทดสอบ ไม่ใช่ค่าประมาณ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ตัวเลข + วิธีวัด + วันที่วัด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618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0C2D48"/>
                </a:solidFill>
                <a:latin typeface="Noto Looped Thai"/>
              </a:rPr>
              <a:t>ผลการทดสอบจริง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00200"/>
          <a:ext cx="731520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508760"/>
                <a:gridCol w="1691640"/>
                <a:gridCol w="1005840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รายการทดสอบ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เกณฑ์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ผลจริง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ผล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ชุดทดสอบทั้งหมด (flutter test)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ผ่านทุกกรณี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45 / 45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ตัวคำนวณ Streak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ตรงทุกกรณี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ผ่านทุกกรณี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ความถี่ N ครั้งต่อสัปดาห์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นับเป็นสัปดาห์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ผ่านทุกกรณี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บันทึกแล้วปิด–เปิดแอปใหม่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ข้อมูลคงอยู่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2/5 → 3/5 คงอยู่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เช็คติดกัน 3 วัน แล้วดู Streak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แสดงค่า 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3 วัน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habit เชิงตัวเลข (ดื่มน้ำ)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กราฟตรงค่าที่กรอก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7/8 แก้ว · กราฟ 7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ธีมมืดหลังปิด–เปิดแอป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ยังเป็นธีมมืด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ยังเป็นธีมมืด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สร้างไฟล์ติดตั้ง APK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สร้างสำเร็จ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60.8 MB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2F855A"/>
                          </a:solidFill>
                          <a:latin typeface="Noto Looped Thai"/>
                        </a:rPr>
                        <a:t>ผ่าน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275320" y="1600200"/>
            <a:ext cx="329184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275320" y="1600200"/>
            <a:ext cx="54864" cy="416052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503920" y="1819656"/>
            <a:ext cx="2880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C2D48"/>
                </a:solidFill>
                <a:latin typeface="Noto Looped Thai"/>
              </a:rPr>
              <a:t>รายละเอียดการทดสอบ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13432"/>
            <a:ext cx="2834640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วันที่วัด: 21 กันยายน 2569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ชุดทดสอบในโค้ด 6 ไฟล์ 646 บรรทัด สั่งรันด้วย flutter test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ทดสอบหน้าจอ: สั่งเบราว์เซอร์กดแอปจริงแบบอัตโนมัติ เก็บภาพหน้าจอทุกขั้น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ภาพหลักฐานอยู่ในโฟลเดอร์ docs/test_evidence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20" b="0">
                <a:solidFill>
                  <a:srgbClr val="1F2937"/>
                </a:solidFill>
                <a:latin typeface="Noto Looped Thai"/>
              </a:rPr>
              <a:t>• ผลทดสอบตอบวัตถุประสงค์ครบทั้ง 3 ข้อ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หลักฐานที่ต้องแสดงตามประเภทโครงงาน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โครงงานประเภท Mobile Application ใช้หลักฐานกลุ่ม M เป็นหลัก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หลักฐานตรงกับประเภทงาน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53492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4864" cy="4206240"/>
          </a:xfrm>
          <a:prstGeom prst="rect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1591056"/>
            <a:ext cx="493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M — Mobile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84832"/>
            <a:ext cx="4892040" cy="3337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• ไฟล์ติดตั้ง APK ที่ลงบนมือถือจริงได้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• หน้าจอครบ 9 หน้า พร้อมภาพหน้าจอทุกหน้า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• ฐานข้อมูลในเครื่อง SQLite 3 ตาราง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• การแจ้งเตือนตามเวลาที่ผู้ใช้ตั้ง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• ชุดทดสอบอัตโนมัติ 45 กรณี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• ใช้งานออฟไลน์ ข้อมูลไม่ออกจากเครื่อง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• ส่งออกข้อมูลเป็นไฟล์ CSV / JSON ได้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3492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4864" cy="4206240"/>
          </a:xfrm>
          <a:prstGeom prst="rect">
            <a:avLst/>
          </a:prstGeom>
          <a:solidFill>
            <a:srgbClr val="64748B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1591056"/>
            <a:ext cx="493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C2D48"/>
                </a:solidFill>
                <a:latin typeface="Noto Looped Thai"/>
              </a:rPr>
              <a:t>สิ่งที่โครงงานนี้ไม่ได้ทำ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84832"/>
            <a:ext cx="4892040" cy="3337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• ไม่ได้ใช้ AI หรือโมเดลเรียนรู้ของเครื่อง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• ไม่มีเซิร์ฟเวอร์หรือ API ภายนอก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• ไม่มีวงจรหรือฮาร์ดแวร์ จึงไม่มี Schematic / PCB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• ไม่มีระบบสมาชิก จึงไม่มีตารางสิทธิ์ผู้ใช้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/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Noto Looped Thai"/>
              </a:rPr>
              <a:t>ตัวเลขสถิติทั้งหมดคำนวณจากข้อมูลที่ผู้ใช้บันทึกเอง ไม่มีการสุ่มหรือประมาณค่า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ปัญหาที่พบ การแก้ไข และข้อจำกัด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ปัญหาจริงระหว่างพัฒนา พร้อมสาเหตุ วิธีแก้ และผลหลังแก้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ปัญหา → สาเหตุ → วิธีแก้ → ผล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10927080" cy="3255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34640"/>
                <a:gridCol w="3017520"/>
                <a:gridCol w="2423160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ปัญหาที่พบ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สาเหตุ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วิธีแก้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ผลหลังแก้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Streak แสดง 1 วัน ทั้งที่ทำติดกัน 9 วัน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ตัวคำนวณเอาช่วงที่ทำติดกันซึ่งเก่ากว่า มาเขียนทับค่าปัจจุบัน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หยุดนับค่าปัจจุบันทันทีที่เจอวันแรกที่ขาด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ค่าตรงกับข้อมูลจริงทุกกรณี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ไอคอนแม่แบบขึ้นเป็นรูปดาวทั้ง 18 รายการ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รหัสไอคอนเขียนเป็นตัวเลขตายตัว ไม่ตรงกับไอคอนในรายการ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ผูกกับชื่อไอคอนจริง และเพิ่มไอคอนที่ขาดไป 6 ตัว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ไอคอนตรงกับชื่อแม่แบบทุกรายการ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ปฏิทินย้อนหลัง 1 ปี เปิดมาเห็นแต่ช่องว่าง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ปฏิทินเริ่มที่ปีที่แล้วทางซ้าย วันล่าสุดอยู่นอกจอ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กำหนดให้เลื่อนมาที่ฝั่งวันล่าสุดตั้งแต่เปิดหน้า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เห็นข้อมูลทันทีที่เปิดหน้าสถิติ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คอมไพล์ไม่ผ่าน หาคลาส Habit ไม่เจอ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drift ต้องสร้างไฟล์โค้ดอัตโนมัติก่อน จึงจะมีคลาสให้เรียกใช้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สั่ง build_runner ทุกครั้งที่แก้ตาราง และบันทึกขั้นตอนไว้ใน SETUP.md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1F2937"/>
                          </a:solidFill>
                          <a:latin typeface="Noto Looped Thai"/>
                        </a:rPr>
                        <a:t>คอมไพล์ผ่าน เพื่อนทำตามคู่มือได้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800600"/>
            <a:ext cx="53492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4800600"/>
            <a:ext cx="54864" cy="1188720"/>
          </a:xfrm>
          <a:prstGeom prst="rect">
            <a:avLst/>
          </a:prstGeom>
          <a:solidFill>
            <a:srgbClr val="D69E2E"/>
          </a:solidFill>
          <a:ln w="9525">
            <a:solidFill>
              <a:srgbClr val="D69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5020056"/>
            <a:ext cx="493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ข้อจำกัดที่ยังเหลือ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13832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ยังไม่ได้ทดสอบการแจ้งเตือนบนมือถือจริง · ยังไม่มีการซิงก์ข้ามเครื่อง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800600"/>
            <a:ext cx="53492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17920" y="4800600"/>
            <a:ext cx="54864" cy="1188720"/>
          </a:xfrm>
          <a:prstGeom prst="rect">
            <a:avLst/>
          </a:prstGeom>
          <a:solidFill>
            <a:srgbClr val="2E8B8B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46520" y="5020056"/>
            <a:ext cx="493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C2D48"/>
                </a:solidFill>
                <a:latin typeface="Noto Looped Thai"/>
              </a:rPr>
              <a:t>แนวทางพัฒนาต่อ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513832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1F2937"/>
                </a:solidFill>
                <a:latin typeface="Noto Looped Thai"/>
              </a:rPr>
              <a:t>ทดสอบกับผู้ใช้จริงและเก็บความพึงพอใจ · สำรองข้อมูลขึ้นคลาวด์ · เผยแพร่ขึ้น Play Store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ผลส่งมอบของโครงงาน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สิ่งที่กรรมการตรวจรับได้หลังการสอบ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ของจริง + เอกสาร +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4447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380744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แอปที่ติดตั้งได้จริง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38074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app-release.apk ขนาด 60.8 MB · ติดตั้งบนมือถือ Android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167128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2860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221992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Source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22199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Git 10 commit · โค้ด 34 ไฟล์ Dart รวม 6,319 บรรทัด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08376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12724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6324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ฐานข้อมูล / โครงสร้าง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06324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SQLite 3 ตาราง · โค้ดสร้างตารางอยู่ใน repository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849624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396849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904487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เอกสารโครงงาน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904487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คู่มือติดตั้ง SETUP.md · README · เอกสารนำเสนอชุดนี้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69087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2F855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480974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745736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0C2D48"/>
                </a:solidFill>
                <a:latin typeface="Noto Looped Thai"/>
              </a:rPr>
              <a:t>หลักฐานทดสอบ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745736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20" b="0">
                <a:solidFill>
                  <a:srgbClr val="1F2937"/>
                </a:solidFill>
                <a:latin typeface="Noto Looped Thai"/>
              </a:rPr>
              <a:t>ผล flutter test 45 กรณี · ภาพหน้าจอผลทดสอบทุกขั้น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7848" y="1435608"/>
            <a:ext cx="3666744" cy="126320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03_evidence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463040"/>
            <a:ext cx="3611880" cy="120833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55279" y="2808538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64748B"/>
                </a:solidFill>
                <a:latin typeface="Noto Looped Thai"/>
              </a:rPr>
              <a:t>ผลรัน flutter test จริง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548640" cy="457200"/>
          </a:xfrm>
          <a:prstGeom prst="roundRect">
            <a:avLst>
              <a:gd name="adj" fmla="val 15000"/>
            </a:avLst>
          </a:prstGeom>
          <a:solidFill>
            <a:srgbClr val="0C2D48"/>
          </a:solidFill>
          <a:ln w="9525">
            <a:solidFill>
              <a:srgbClr val="0C2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48056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Looped Tha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C2D48"/>
                </a:solidFill>
                <a:latin typeface="Noto Looped Thai"/>
              </a:rPr>
              <a:t>สรุปผลเทียบกับวัตถุประสงค์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40664"/>
            <a:ext cx="9784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4748B"/>
                </a:solidFill>
                <a:latin typeface="Noto Looped Thai"/>
              </a:rPr>
              <a:t>หลักฐานว่าวัตถุประสงค์ทั้ง 3 ข้อบรรลุครบ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384048"/>
            <a:ext cx="2770632" cy="612648"/>
          </a:xfrm>
          <a:prstGeom prst="roundRect">
            <a:avLst>
              <a:gd name="adj" fmla="val 18000"/>
            </a:avLst>
          </a:prstGeom>
          <a:solidFill>
            <a:srgbClr val="E9F5F5"/>
          </a:solidFill>
          <a:ln w="9525">
            <a:solidFill>
              <a:srgbClr val="BF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098280" y="448056"/>
            <a:ext cx="2423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2E8B8B"/>
                </a:solidFill>
                <a:latin typeface="Noto Looped Thai"/>
              </a:rPr>
              <a:t>ประเด็นสำคัญ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640080"/>
            <a:ext cx="2423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1F2937"/>
                </a:solidFill>
                <a:latin typeface="Noto Looped Thai"/>
              </a:rPr>
              <a:t>วัตถุประสงค์ → หลักฐาน → สถานะ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27080" cy="2596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577840"/>
                <a:gridCol w="1234440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วัตถุประสงค์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หลักฐาน / ผลที่ได้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Noto Looped Thai"/>
                        </a:rPr>
                        <a:t>สถานะ</a:t>
                      </a:r>
                    </a:p>
                  </a:txBody>
                  <a:tcPr marL="91440" marR="91440" marT="36576" marB="36576" anchor="ctr">
                    <a:solidFill>
                      <a:srgbClr val="0C2D4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ข้อ 1: บันทึกพฤติกรรมประจำวันแบบออฟไลน์ ไม่ต้องสมัครสมาชิก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บันทึกลง SQLite ในเครื่อง · ปิดแอปแล้วเปิดใหม่ข้อมูลยังอยู่ (ทดสอบแล้ว)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2F855A"/>
                          </a:solidFill>
                          <a:latin typeface="Noto Looped Thai"/>
                        </a:rPr>
                        <a:t>บรรลุ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ข้อ 2: คำนวณ Streak อัตราสำเร็จ และปฏิทินย้อนหลัง 1 ปี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หน้าสถิติแสดงครบ · ชุดทดสอบตัวคำนวณผ่านทุกกรณี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2F855A"/>
                          </a:solidFill>
                          <a:latin typeface="Noto Looped Thai"/>
                        </a:rPr>
                        <a:t>บรรลุ</a:t>
                      </a:r>
                    </a:p>
                  </a:txBody>
                  <a:tcPr marL="91440" marR="91440" marT="36576" marB="36576" anchor="ctr">
                    <a:solidFill>
                      <a:srgbClr val="F4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ข้อ 3: รองรับความถี่หลายแบบ แจ้งเตือน และส่งออกข้อมูล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0">
                          <a:solidFill>
                            <a:srgbClr val="1F2937"/>
                          </a:solidFill>
                          <a:latin typeface="Noto Looped Thai"/>
                        </a:rPr>
                        <a:t>รายวัน / เลือกวัน / N ครั้งต่อสัปดาห์ · ตั้งเวลาเตือน · ส่งออก CSV–JSON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 b="1">
                          <a:solidFill>
                            <a:srgbClr val="2F855A"/>
                          </a:solidFill>
                          <a:latin typeface="Noto Looped Thai"/>
                        </a:rPr>
                        <a:t>บรรลุ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206240"/>
            <a:ext cx="10927080" cy="1280160"/>
          </a:xfrm>
          <a:prstGeom prst="roundRect">
            <a:avLst>
              <a:gd name="adj" fmla="val 12000"/>
            </a:avLst>
          </a:prstGeom>
          <a:solidFill>
            <a:srgbClr val="E7F5ED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10195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450" b="1">
                <a:solidFill>
                  <a:srgbClr val="1B5E3F"/>
                </a:solidFill>
                <a:latin typeface="Noto Looped Thai"/>
              </a:rPr>
              <a:t>“โครงงานพัฒนาได้ครบตามขอบเขตทั้ง 9 ฟังก์ชัน ผ่านชุดทดสอบอัตโนมัติ 45 กรณี และสร้างไฟล์ติดตั้งจริงได้แล้ว จึงถือว่าดำเนินงานสำเร็จ 100% ของขอบเขตที่กำหนด”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ptos Display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6596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D6E4EE"/>
                </a:solidFill>
                <a:latin typeface="Noto Looped Thai"/>
              </a:rPr>
              <a:t>พร้อมสาธิตแอป และตอบคำถามจากหลักฐานจริง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788920"/>
            <a:ext cx="6675120" cy="2057400"/>
          </a:xfrm>
          <a:prstGeom prst="roundRect">
            <a:avLst>
              <a:gd name="adj" fmla="val 6000"/>
            </a:avLst>
          </a:prstGeom>
          <a:solidFill>
            <a:srgbClr val="10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3072384"/>
            <a:ext cx="2560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BCE5E5"/>
                </a:solidFill>
                <a:latin typeface="Noto Looped Thai"/>
              </a:rPr>
              <a:t>พร้อมให้ตรวจสอบ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93008"/>
            <a:ext cx="5943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40" b="0">
                <a:solidFill>
                  <a:srgbClr val="FFFFFF"/>
                </a:solidFill>
                <a:latin typeface="Noto Looped Thai"/>
              </a:rPr>
              <a:t>ติดตั้งจากไฟล์ APK บนมือถือได้ทันที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40" b="0">
                <a:solidFill>
                  <a:srgbClr val="FFFFFF"/>
                </a:solidFill>
                <a:latin typeface="Noto Looped Thai"/>
              </a:rPr>
              <a:t>Source code · ชุดทดสอบ 45 กรณี · ภาพหลักฐาน เปิดตรวจได้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40" b="0">
                <a:solidFill>
                  <a:srgbClr val="FFFFFF"/>
                </a:solidFill>
                <a:latin typeface="Noto Looped Thai"/>
              </a:rPr>
              <a:t>พัฒนาเองทั้งระบบ: วิเคราะห์ → ออกแบบ → พัฒนา → ทดสอบ → สร้างไฟล์ติดตั้ง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40" b="0">
                <a:solidFill>
                  <a:srgbClr val="FFFFFF"/>
                </a:solidFill>
                <a:latin typeface="Noto Looped Thai"/>
              </a:rPr>
              <a:t>ทุกตัวเลขในสไลด์วัดจากการรันจริง</a:t>
            </a:r>
          </a:p>
        </p:txBody>
      </p:sp>
      <p:sp>
        <p:nvSpPr>
          <p:cNvPr id="8" name="Oval 7"/>
          <p:cNvSpPr/>
          <p:nvPr/>
        </p:nvSpPr>
        <p:spPr>
          <a:xfrm>
            <a:off x="8503920" y="1051560"/>
            <a:ext cx="2423160" cy="2423160"/>
          </a:xfrm>
          <a:prstGeom prst="ellipse">
            <a:avLst/>
          </a:prstGeom>
          <a:solidFill>
            <a:srgbClr val="174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49640" y="1828800"/>
            <a:ext cx="2331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Noto Looped Tha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3840480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BCE5E5"/>
                </a:solidFill>
                <a:latin typeface="Aptos"/>
              </a:rPr>
              <a:t>READY TO DEFEND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54880"/>
            <a:ext cx="3749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Noto Looped Thai"/>
              </a:rPr>
              <a:t>Habit Tracker · ภูตะวัน ทองวิลาศ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Looped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Looped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2173</Words>
  <Application>Microsoft Office PowerPoint</Application>
  <PresentationFormat>Widescreen</PresentationFormat>
  <Paragraphs>376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Noto Looped Thai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Chiang Mai Technical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แม่แบบนำเสนอสอบความก้าวหน้าโครงงาน 100%</dc:title>
  <dc:subject>แม่แบบนำเสนอสอบความก้าวหน้าโครงงาน 100% ระดับปริญญาตรี</dc:subject>
  <dc:creator>OpenAI</dc:creator>
  <cp:lastModifiedBy>Thanakit Tajanan</cp:lastModifiedBy>
  <cp:revision>11</cp:revision>
  <dcterms:created xsi:type="dcterms:W3CDTF">2026-09-15T05:15:01Z</dcterms:created>
  <dcterms:modified xsi:type="dcterms:W3CDTF">2026-09-15T10:44:54Z</dcterms:modified>
</cp:coreProperties>
</file>