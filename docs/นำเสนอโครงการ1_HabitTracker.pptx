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ight Triangle 2"/>
          <p:cNvSpPr/>
          <p:nvPr/>
        </p:nvSpPr>
        <p:spPr>
          <a:xfrm rot="5400000">
            <a:off x="10424160" y="-365760"/>
            <a:ext cx="2377440" cy="2011680"/>
          </a:xfrm>
          <a:prstGeom prst="rtTriangle">
            <a:avLst/>
          </a:prstGeom>
          <a:solidFill>
            <a:srgbClr val="1E4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9326880" y="3017520"/>
            <a:ext cx="2560320" cy="2560320"/>
          </a:xfrm>
          <a:prstGeom prst="pie">
            <a:avLst>
              <a:gd name="adj1" fmla="val -9000000"/>
              <a:gd name="adj2" fmla="val -2000000"/>
            </a:avLst>
          </a:prstGeom>
          <a:solidFill>
            <a:srgbClr val="17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</a:rPr>
              <a:t>แบบฟอร์มนำเสนอ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</a:rPr>
              <a:t>ผลการดำเนินงานโครงการ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97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BFD3E6"/>
                </a:solidFill>
                <a:latin typeface="Leelawadee UI"/>
              </a:rPr>
              <a:t>สำหรับนักศึกษาที่มีความก้าวหน้าไม่น้อยกว่า 75%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46120"/>
            <a:ext cx="6949440" cy="14173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4E74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3520440"/>
            <a:ext cx="6492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Leelawadee UI"/>
              </a:rPr>
              <a:t>ชื่อโครงงาน : Habit Tracker — แอปพลิเคชันติดตามพฤติกรรมประจำวันบนมือถือ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Leelawadee UI"/>
              </a:rPr>
              <a:t>ผู้จัดทำ : [ชื่อ–สกุล / รหัสนักศึกษา]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Leelawadee UI"/>
              </a:rPr>
              <a:t>อาจารย์ที่ปรึกษา : [ชื่ออาจารย์]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63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9FB8D0"/>
                </a:solidFill>
                <a:latin typeface="Leelawadee UI"/>
              </a:rPr>
              <a:t>การประเมินปลายภาค “โครงการ 1” | ผลงานสมบูรณ์ 100% และการสอบจบ นำเสนอในภาคเรียนถัดไป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17375E"/>
                </a:solidFill>
                <a:latin typeface="Leelawadee UI"/>
              </a:rPr>
              <a:t>1. ปัญหา ที่มา และเป้าหมายของโครงงาน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Leelawadee UI"/>
              </a:rPr>
              <a:t>ทบทวนให้กรรมการเข้าใจว่า “ทำอะไร – เพื่อใคร – แก้ปัญหาอะไร” ภายใน 1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โครงการ 1 | การนำเสนอผลการดำเนินงาน ≥ 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วิทยาลัยเทคนิคเชียงใหม่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4282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5A6B7B"/>
                </a:solidFill>
                <a:latin typeface="Leelawade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36118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8580" cy="3749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5528" y="157276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B2B3A"/>
                </a:solidFill>
                <a:latin typeface="Leelawadee UI"/>
              </a:rPr>
              <a:t>ปัญหา / ความจำเป็น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148840"/>
            <a:ext cx="3063240" cy="2907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B7B"/>
                </a:solidFill>
                <a:latin typeface="Leelawadee UI"/>
              </a:rPr>
              <a:t>• คนตั้งเป้าสร้างนิสัยใหม่ (ออกกำลังกาย อ่านหนังสือ ดื่มน้ำ) แล้วเลิกกลางคัน เพราะไม่มีเครื่องมือที่ทำให้เห็น “ความต่อเนื่อง” ของตัวเอง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B7B"/>
                </a:solidFill>
                <a:latin typeface="Leelawadee UI"/>
              </a:rPr>
              <a:t>• จดในสมุดหรือโน้ตในมือถือ สรุปย้อนหลังไม่ได้ ไม่รู้ว่าทำได้กี่วันติดกัน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B7B"/>
                </a:solidFill>
                <a:latin typeface="Leelawadee UI"/>
              </a:rPr>
              <a:t>• แอปในตลาดส่วนใหญ่ต้องสมัครสมาชิก ต่ออินเทอร์เน็ต และเป็นภาษาอังกฤษ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B7B"/>
                </a:solidFill>
                <a:latin typeface="Leelawade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B7B"/>
                </a:solidFill>
                <a:latin typeface="Leelawadee UI"/>
              </a:rPr>
              <a:t>กลุ่มเป้าหมาย : นักเรียน–นักศึกษา และวัยทำงานที่ต้องการสร้างวินัยส่วนตัว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371600"/>
            <a:ext cx="36118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15968" y="1417320"/>
            <a:ext cx="68580" cy="3749040"/>
          </a:xfrm>
          <a:prstGeom prst="rect">
            <a:avLst/>
          </a:prstGeom>
          <a:solidFill>
            <a:srgbClr val="17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08576" y="157276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B2B3A"/>
                </a:solidFill>
                <a:latin typeface="Leelawadee UI"/>
              </a:rPr>
              <a:t>วัตถุประสงค์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148840"/>
            <a:ext cx="3063240" cy="2907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B7B"/>
                </a:solidFill>
                <a:latin typeface="Leelawadee UI"/>
              </a:rPr>
              <a:t>1) พัฒนาแอปบนมือถือด้วย Flutter สำหรับบันทึกพฤติกรรมประจำวัน ที่ทำงานแบบออฟไลน์ ไม่ต้องสมัครสมาชิก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B7B"/>
                </a:solidFill>
                <a:latin typeface="Leelawade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B7B"/>
                </a:solidFill>
                <a:latin typeface="Leelawadee UI"/>
              </a:rPr>
              <a:t>2) คำนวณสถิติจากข้อมูลที่บันทึก ได้แก่ จำนวนวันต่อเนื่อง (Streak) และอัตราความสำเร็จรายสัปดาห์ พร้อมแสดงผลเป็นกราฟและปฏิทินสี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B7B"/>
                </a:solidFill>
                <a:latin typeface="Leelawade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B7B"/>
                </a:solidFill>
                <a:latin typeface="Leelawadee UI"/>
              </a:rPr>
              <a:t>3) รองรับพฤติกรรมทั้งแบบ “ทำ / ไม่ทำ” และแบบเชิงตัวเลขที่มีเป้าหมาย เช่น ดื่มน้ำ 8 แก้ว วิ่ง 5 กม. พร้อมแม่แบบสำเร็จรูปให้เลือก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371600"/>
            <a:ext cx="3557016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129016" y="1417320"/>
            <a:ext cx="68580" cy="37490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21624" y="1572768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B2B3A"/>
                </a:solidFill>
                <a:latin typeface="Leelawadee UI"/>
              </a:rPr>
              <a:t>ขอบเขตงาน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148840"/>
            <a:ext cx="3008376" cy="2907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อยู่ในขอบเขต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• แอปบน Android (โค้ดชุดเดียว ต่อยอด iOS ได้)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• เก็บข้อมูลในเครื่องด้วย SQLite 3 ตาราง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• 3 หน้าจอหลัก : หน้าหลัก / สถิติ / ตั้งค่า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• หน้าจอภาษาไทย + ธีมสว่างและมืด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อยู่นอกขอบเขต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• ระบบสมาชิก การซิงก์ขึ้นคลาวด์ และระบบแชร์กับเพื่อน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394960"/>
            <a:ext cx="11183112" cy="960120"/>
          </a:xfrm>
          <a:prstGeom prst="roundRect">
            <a:avLst>
              <a:gd name="adj" fmla="val 12000"/>
            </a:avLst>
          </a:prstGeom>
          <a:solidFill>
            <a:srgbClr val="FFFBEF"/>
          </a:solidFill>
          <a:ln w="9525">
            <a:solidFill>
              <a:srgbClr val="E8C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8952" y="554126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821A"/>
                </a:solidFill>
                <a:latin typeface="Leelawadee UI"/>
              </a:rPr>
              <a:t>สิ่งที่ต้องใส่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870448"/>
            <a:ext cx="10671048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6B541E"/>
                </a:solidFill>
                <a:latin typeface="Leelawadee UI"/>
              </a:rPr>
              <a:t>ใช้ข้อความสั้น กระชับ ไม่คัดลอกบทที่ 1 มาวางทั้งหน้า และควรมีภาพปัญหาหรือภาพบริบทจริง 1 ภาพหากมี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6B541E"/>
                </a:solidFill>
                <a:latin typeface="Leelawadee UI"/>
              </a:rPr>
              <a:t>แนะนำ : ใส่ภาพสมุดจดนิสัยหรือโน้ตในมือถือ เทียบกับภาพหน้าจอแอปที่ทำเสร็จแล้ว 1 ภาพ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17375E"/>
                </a:solidFill>
                <a:latin typeface="Leelawadee UI"/>
              </a:rPr>
              <a:t>2. สรุปความก้าวหน้าปัจจุบัน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Leelawadee UI"/>
              </a:rPr>
              <a:t>แสดงสถานะจริง ณ วันสอบ ไม่จำเป็นต้องครบ 100% แต่ต้องไม่น้อยกว่า 75% และมีหลักฐานตรวจสอบ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โครงการ 1 | การนำเสนอผลการดำเนินงาน ≥ 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วิทยาลัยเทคนิคเชียงใหม่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4282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5A6B7B"/>
                </a:solidFill>
                <a:latin typeface="Leelawade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B2B3A"/>
                </a:solidFill>
                <a:latin typeface="Leelawadee UI"/>
              </a:rPr>
              <a:t>ความก้าวหน้ารวม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11183112" cy="502920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8385048" cy="502920"/>
          </a:xfrm>
          <a:prstGeom prst="rect">
            <a:avLst/>
          </a:prstGeom>
          <a:solidFill>
            <a:srgbClr val="17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0" y="180136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7375E"/>
                </a:solidFill>
                <a:latin typeface="Leelawadee UI"/>
              </a:rPr>
              <a:t>75%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2359152"/>
          <a:ext cx="11183112" cy="334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1691640"/>
                <a:gridCol w="3913632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งาน / โมดูล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สถานะ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หลักฐาน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โครงสร้างโปรเจกต์ + ออกแบบฐานข้อมูล 3 ตาราง (Categories / Habits / HabitLogs)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E884B"/>
                          </a:solidFill>
                          <a:latin typeface="Leelawadee UI"/>
                        </a:rPr>
                        <a:t>เสร็จแล้ว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โค้ด drift + ไฟล์ app_database.g.dart ที่สร้างอัตโนมัติ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หน้าหลัก — เลือกวัน กดเช็ค habit กรอกค่าตัวเลข และแถบสรุปความคืบหน้าของวัน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E884B"/>
                          </a:solidFill>
                          <a:latin typeface="Leelawadee UI"/>
                        </a:rPr>
                        <a:t>เสร็จแล้ว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สาธิตบนอีมูเลเตอร์ / dashboard_screen.dart (283 บรรทัด)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เพิ่ม–แก้ไข habit + แม่แบบสำเร็จรูป 18 รายการ 3 หมวด (กีฬา / ชีวิต / การศึกษา)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E884B"/>
                          </a:solidFill>
                          <a:latin typeface="Leelawadee UI"/>
                        </a:rPr>
                        <a:t>เสร็จแล้ว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add_habit_screen.dart + template_picker_screen.dart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หน้าสถิติ — Streak, ปฏิทินความถี่ย้อนหลัง 1 ปี, กราฟแท่งรายสัปดาห์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E884B"/>
                          </a:solidFill>
                          <a:latin typeface="Leelawadee UI"/>
                        </a:rPr>
                        <a:t>เสร็จแล้ว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analytics_screen.dart + fl_chart / ภาพหน้าจอ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ตั้งค่า — ธีมสว่าง / มืด / ตามระบบ และจำค่าไว้หลังปิดแอป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E884B"/>
                          </a:solidFill>
                          <a:latin typeface="Leelawadee UI"/>
                        </a:rPr>
                        <a:t>เสร็จแล้ว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settings_screen.dart + shared_preferences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ระบบแจ้งเตือนตามเวลาที่ตั้งไว้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C9821A"/>
                          </a:solidFill>
                          <a:latin typeface="Leelawadee UI"/>
                        </a:rPr>
                        <a:t>กำลังดำเนินการ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เก็บเวลาเตือนลงฐานข้อมูลได้แล้ว แต่ยังไม่ยิงแจ้งเตือนจริง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ความถี่แบบ “N ครั้งต่อสัปดาห์”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C9821A"/>
                          </a:solidFill>
                          <a:latin typeface="Leelawadee UI"/>
                        </a:rPr>
                        <a:t>กำลังดำเนินการ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มีตัวเลือกในหน้าเพิ่ม habit แล้ว แต่ยังนับผลเหมือนรายวัน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ชุดทดสอบอัตโนมัติ (Unit / Widget test)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C0392B"/>
                          </a:solidFill>
                          <a:latin typeface="Leelawadee UI"/>
                        </a:rPr>
                        <a:t>ยังไม่เสร็จ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test/widget_test.dart ยังเป็นไฟล์ตัวอย่างที่ Flutter สร้างให้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02920" y="5852160"/>
            <a:ext cx="11183112" cy="502920"/>
          </a:xfrm>
          <a:prstGeom prst="roundRect">
            <a:avLst>
              <a:gd name="adj" fmla="val 20000"/>
            </a:avLst>
          </a:prstGeom>
          <a:solidFill>
            <a:srgbClr val="FFFBEF"/>
          </a:solidFill>
          <a:ln w="9525">
            <a:solidFill>
              <a:srgbClr val="E8C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8952" y="60076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821A"/>
                </a:solidFill>
                <a:latin typeface="Leelawadee UI"/>
              </a:rPr>
              <a:t>สิ่งที่ต้องใส่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7128" y="6016752"/>
            <a:ext cx="92628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6B541E"/>
                </a:solidFill>
                <a:latin typeface="Leelawadee UI"/>
              </a:rPr>
              <a:t>75% : 5 โมดูลหลักเสร็จและสาธิตได้ · 2 รายการทำไปบางส่วน · ชุดทดสอบอัตโนมัติยังไม่เริ่ม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17375E"/>
                </a:solidFill>
                <a:latin typeface="Leelawadee UI"/>
              </a:rPr>
              <a:t>3. การออกแบบและวิธีดำเนินงาน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Leelawadee UI"/>
              </a:rPr>
              <a:t>สถาปัตยกรรมแอปและฐานข้อมูลที่ใช้จริงในโครงงาน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โครงการ 1 | การนำเสนอผลการดำเนินงาน ≥ 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วิทยาลัยเทคนิคเชียงใหม่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4282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5A6B7B"/>
                </a:solidFill>
                <a:latin typeface="Leelawade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603504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572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2B3A"/>
                </a:solidFill>
                <a:latin typeface="Leelawadee UI"/>
              </a:rPr>
              <a:t>สถาปัตยกรรมระบบ (Layered Architecture)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65960"/>
            <a:ext cx="5486400" cy="777240"/>
          </a:xfrm>
          <a:prstGeom prst="roundRect">
            <a:avLst>
              <a:gd name="adj" fmla="val 14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86968" y="2084831"/>
            <a:ext cx="5266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Leelawadee UI"/>
              </a:rPr>
              <a:t>ชั้นแสดงผล (UI) — Flutter Widgets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350008"/>
            <a:ext cx="5230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E4EEF7"/>
                </a:solidFill>
                <a:latin typeface="Leelawadee UI"/>
              </a:rPr>
              <a:t>หน้าหลัก · สถิติ · เพิ่ม/แก้ไข habit · เลือกแม่แบบ · ตั้งค่า   |   นำทางด้วย go_router (ShellRoute + แถบล่าง)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520440" y="2798064"/>
            <a:ext cx="274320" cy="201168"/>
          </a:xfrm>
          <a:prstGeom prst="downArrow">
            <a:avLst/>
          </a:prstGeom>
          <a:solidFill>
            <a:srgbClr val="A8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063240"/>
            <a:ext cx="5486400" cy="777240"/>
          </a:xfrm>
          <a:prstGeom prst="roundRect">
            <a:avLst>
              <a:gd name="adj" fmla="val 14000"/>
            </a:avLst>
          </a:prstGeom>
          <a:solidFill>
            <a:srgbClr val="17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86968" y="3182112"/>
            <a:ext cx="5266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Leelawadee UI"/>
              </a:rPr>
              <a:t>ชั้นสถานะและตรรกะ — Riverpod Providers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447288"/>
            <a:ext cx="5230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750" b="0">
                <a:solidFill>
                  <a:srgbClr val="E4EEF7"/>
                </a:solidFill>
                <a:latin typeface="Leelawadee UI"/>
              </a:rPr>
              <a:t>habitsProvider · logsForDateProvider · dashboardProvider · analyticsProvider · heatmapProvider   |   StreakCalculator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520440" y="3895344"/>
            <a:ext cx="274320" cy="201168"/>
          </a:xfrm>
          <a:prstGeom prst="downArrow">
            <a:avLst/>
          </a:prstGeom>
          <a:solidFill>
            <a:srgbClr val="A8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160520"/>
            <a:ext cx="5486400" cy="777240"/>
          </a:xfrm>
          <a:prstGeom prst="roundRect">
            <a:avLst>
              <a:gd name="adj" fmla="val 14000"/>
            </a:avLst>
          </a:prstGeom>
          <a:solidFill>
            <a:srgbClr val="6D4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4279392"/>
            <a:ext cx="5266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Leelawadee UI"/>
              </a:rPr>
              <a:t>ชั้นข้อมูล — AppDatabase (drift ORM)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544568"/>
            <a:ext cx="5230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E4EEF7"/>
                </a:solidFill>
                <a:latin typeface="Leelawadee UI"/>
              </a:rPr>
              <a:t>watchActiveHabits() · watchLogsForDate() · upsertLog() · getAllLogsForHabit()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3520440" y="4992624"/>
            <a:ext cx="274320" cy="201168"/>
          </a:xfrm>
          <a:prstGeom prst="downArrow">
            <a:avLst/>
          </a:prstGeom>
          <a:solidFill>
            <a:srgbClr val="A8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5257800"/>
            <a:ext cx="5486400" cy="685800"/>
          </a:xfrm>
          <a:prstGeom prst="roundRect">
            <a:avLst>
              <a:gd name="adj" fmla="val 14000"/>
            </a:avLst>
          </a:prstGeom>
          <a:solidFill>
            <a:srgbClr val="3F4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968" y="5376672"/>
            <a:ext cx="5266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Leelawadee UI"/>
              </a:rPr>
              <a:t>ฐานข้อมูล SQLite ในเครื่อง — habit_tracker.db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5641848"/>
            <a:ext cx="5230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E4EEF7"/>
                </a:solidFill>
                <a:latin typeface="Leelawadee UI"/>
              </a:rPr>
              <a:t>Categories (1) —&lt; Habits (1) —&lt; HabitLogs   |   คีย์ไม่ซ้ำ : (habitId, loggedDate)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1371600"/>
            <a:ext cx="4965192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720840" y="1417320"/>
            <a:ext cx="68580" cy="4663440"/>
          </a:xfrm>
          <a:prstGeom prst="rect">
            <a:avLst/>
          </a:prstGeom>
          <a:solidFill>
            <a:srgbClr val="17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013448" y="1572768"/>
            <a:ext cx="4416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B2B3A"/>
                </a:solidFill>
                <a:latin typeface="Leelawadee UI"/>
              </a:rPr>
              <a:t>แนวทางและเครื่องมือที่ใช้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2148840"/>
            <a:ext cx="4416552" cy="3822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Leelawadee UI"/>
              </a:rPr>
              <a:t>เครื่องมือ / ภาษา / Framework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Leelawadee UI"/>
              </a:rPr>
              <a:t>• Flutter 3.44.8 + Dart — เขียนโค้ดชุดเดียวใช้ได้หลายแพลตฟอร์ม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Leelawadee UI"/>
              </a:rPr>
              <a:t>• drift 2.21 + sqlite3_flutter_libs — ฐานข้อมูลในเครื่อง เขียนคำสั่งค้นข้อมูลแบบตรวจชนิดข้อมูลให้ตั้งแต่ตอนคอมไพล์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Leelawadee UI"/>
              </a:rPr>
              <a:t>• flutter_riverpod 2.6 — จัดการสถานะและรีเฟรชหน้าจออัตโนมัติ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Leelawadee UI"/>
              </a:rPr>
              <a:t>• go_router 14.6 — จัดการเส้นทางหน้าจอ · fl_chart 0.69 — กราฟแท่ง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Leelawadee UI"/>
              </a:rPr>
              <a:t>• intl — วันที่ภาษาไทย · shared_preferences — จำค่าธีม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Leelawade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Leelawadee UI"/>
              </a:rPr>
              <a:t>หลักการทำงานของส่วนสำคัญ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Leelawadee UI"/>
              </a:rPr>
              <a:t>• หน้าจอ “เฝ้าดู” ฐานข้อมูลผ่าน Stream เมื่อกดเช็ค habit ข้อมูลจะถูกเขียนลง SQLite แล้วทุกหน้าที่เกี่ยวข้องอัปเดตเองทันที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Leelawadee UI"/>
              </a:rPr>
              <a:t>• ตัวคำนวณ Streak ไล่ย้อนหลังทีละวันสูงสุด 365 วัน ข้ามวันที่ไม่ใช่วันเป้าหมาย และไม่นับว่าขาดถ้าวันนี้ยังไม่ได้บันทึก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Leelawade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Leelawadee UI"/>
              </a:rPr>
              <a:t>เหตุผลที่เลือกแนวทางนี้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Leelawadee UI"/>
              </a:rPr>
              <a:t>• เก็บข้อมูลในเครื่อง = ใช้งานได้แม้ไม่มีอินเทอร์เน็ต ไม่ต้องมีเซิร์ฟเวอร์ และข้อมูลส่วนตัวไม่ออกจากเครื่องผู้ใช้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17375E"/>
                </a:solidFill>
                <a:latin typeface="Leelawadee UI"/>
              </a:rPr>
              <a:t>4. ผลงานที่ดำเนินการเสร็จแล้ว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Leelawadee UI"/>
              </a:rPr>
              <a:t>เน้น “ของจริงที่ทำได้แล้ว” มากกว่าคำอธิบาย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โครงการ 1 | การนำเสนอผลการดำเนินงาน ≥ 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วิทยาลัยเทคนิคเชียงใหม่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4282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5A6B7B"/>
                </a:solidFill>
                <a:latin typeface="Leelawadee U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361188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8580" cy="4206240"/>
          </a:xfrm>
          <a:prstGeom prst="rect">
            <a:avLst/>
          </a:prstGeom>
          <a:solidFill>
            <a:srgbClr val="1E8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5528" y="157276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B2B3A"/>
                </a:solidFill>
                <a:latin typeface="Leelawadee UI"/>
              </a:rPr>
              <a:t>ผลงานส่วนที่ 1 — หน้าหลัก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2697" y="1847088"/>
            <a:ext cx="1232154" cy="25694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6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1874519"/>
            <a:ext cx="1177290" cy="25146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372868" y="1847088"/>
            <a:ext cx="1232154" cy="25694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6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05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1874519"/>
            <a:ext cx="1177290" cy="2514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5528" y="4498848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Leelawadee UI"/>
              </a:rPr>
              <a:t>เลือกวันจากแถบวันที่ · กดเช็ค habit ของวันนั้น · habit เชิงตัวเลขกรอกค่าได้ (เช่น ดื่มน้ำ 6/8 แก้ว) · แถบสรุปความคืบหน้าของวัน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Leelawadee UI"/>
              </a:rPr>
              <a:t>ใช้งานได้เต็มรูปแบบ บันทึกลงฐานข้อมูลจริง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371600"/>
            <a:ext cx="361188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15968" y="1417320"/>
            <a:ext cx="68580" cy="4206240"/>
          </a:xfrm>
          <a:prstGeom prst="rect">
            <a:avLst/>
          </a:prstGeom>
          <a:solidFill>
            <a:srgbClr val="1E8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08576" y="157276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B2B3A"/>
                </a:solidFill>
                <a:latin typeface="Leelawadee UI"/>
              </a:rPr>
              <a:t>ผลงานส่วนที่ 2 — จัดการ Habit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25745" y="1847088"/>
            <a:ext cx="1232154" cy="25694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6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02_add_h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177" y="1874519"/>
            <a:ext cx="1177290" cy="25146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185915" y="1847088"/>
            <a:ext cx="1232154" cy="25694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6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02b_templa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347" y="1874519"/>
            <a:ext cx="1177290" cy="2514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08576" y="4498848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Leelawadee UI"/>
              </a:rPr>
              <a:t>แม่แบบสำเร็จรูป 18 รายการ 3 หมวด · ตั้งชื่อ ไอคอน สี หมวดหมู่ · เลือกความถี่รายวันหรือเจาะจงวัน · ตั้งเป้าเชิงตัวเลขและหน่วย · แก้ไขและลบ habit เดิมได้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9016" y="1371600"/>
            <a:ext cx="361188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129016" y="1417320"/>
            <a:ext cx="68580" cy="4206240"/>
          </a:xfrm>
          <a:prstGeom prst="rect">
            <a:avLst/>
          </a:prstGeom>
          <a:solidFill>
            <a:srgbClr val="1E8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21624" y="157276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B2B3A"/>
                </a:solidFill>
                <a:latin typeface="Leelawadee UI"/>
              </a:rPr>
              <a:t>ผลงานส่วนที่ 3 — สถิติ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38794" y="1847088"/>
            <a:ext cx="1232154" cy="25694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6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03_analyt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6226" y="1874519"/>
            <a:ext cx="1177290" cy="25146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9998964" y="1847088"/>
            <a:ext cx="1232154" cy="25694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6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03b_analytics_scro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6396" y="1874519"/>
            <a:ext cx="1177290" cy="2514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21624" y="4498848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Leelawadee UI"/>
              </a:rPr>
              <a:t>การ์ด Streak ปัจจุบันและสถิติสูงสุด · อัตราสำเร็จรายสัปดาห์ · ปฏิทินความถี่ย้อนหลัง 1 ปี · กราฟแท่งรายสัปดาห์ของ habit เชิงตัวเลข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760720"/>
            <a:ext cx="11183112" cy="502920"/>
          </a:xfrm>
          <a:prstGeom prst="roundRect">
            <a:avLst>
              <a:gd name="adj" fmla="val 20000"/>
            </a:avLst>
          </a:prstGeom>
          <a:solidFill>
            <a:srgbClr val="FFFBEF"/>
          </a:solidFill>
          <a:ln w="9525">
            <a:solidFill>
              <a:srgbClr val="E8C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8952" y="591616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821A"/>
                </a:solidFill>
                <a:latin typeface="Leelawadee UI"/>
              </a:rPr>
              <a:t>สิ่งที่ต้องใส่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67128" y="5925312"/>
            <a:ext cx="92628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6B541E"/>
                </a:solidFill>
                <a:latin typeface="Leelawadee UI"/>
              </a:rPr>
              <a:t>หลักฐาน : ซอร์สโค้ดบน Git · ภาพหน้าจอจากแอปที่รันจริง (ข้อมูลตัวอย่าง) · สาธิตสดได้ในวันสอบ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17375E"/>
                </a:solidFill>
                <a:latin typeface="Leelawadee UI"/>
              </a:rPr>
              <a:t>5. การทดสอบและผลที่ได้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Leelawadee UI"/>
              </a:rPr>
              <a:t>แสดงหลักฐานว่าผลงานไม่ได้เพียง “ทำเสร็จ” แต่ผ่านการทดสอบบางส่วนแล้ว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โครงการ 1 | การนำเสนอผลการดำเนินงาน ≥ 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วิทยาลัยเทคนิคเชียงใหม่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4282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5A6B7B"/>
                </a:solidFill>
                <a:latin typeface="Leelawadee UI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25880"/>
          <a:ext cx="11183112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017520"/>
                <a:gridCol w="2514600"/>
                <a:gridCol w="2130552"/>
                <a:gridCol w="1371600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รายการทดสอบ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วิธีทดสอบ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ผลที่คาดหวัง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ผลที่ได้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สถานะ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T1 ติดตั้งและรันแอป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สั่ง flutter run บนอีมูเลเตอร์ Pixel 6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แอปเปิดขึ้นหน้าหลักโดยไม่ค้าง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คอมไพล์ผ่านและเปิดใช้งานได้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E884B"/>
                          </a:solidFill>
                          <a:latin typeface="Leelawadee UI"/>
                        </a:rPr>
                        <a:t>ผ่าน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T2 สร้างฐานข้อมูลครั้งแรก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ลบแอปแล้วติดตั้งใหม่ เปิดหน้าเพิ่ม habit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มีหมวดหมู่ตั้งต้น 5 หมวด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ขึ้นครบ 5 หมวด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E884B"/>
                          </a:solidFill>
                          <a:latin typeface="Leelawadee UI"/>
                        </a:rPr>
                        <a:t>ผ่าน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T3 บันทึก habit รายวัน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กดเช็ค habit แล้วปิดแอปและเปิดใหม่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สถานะที่เช็คไว้ยังอยู่ครบ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2/5 → 3/5 และหลังเปิดใหม่ยังเป็น 3/5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E884B"/>
                          </a:solidFill>
                          <a:latin typeface="Leelawadee UI"/>
                        </a:rPr>
                        <a:t>ผ่าน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T4 คำนวณ Streak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เช็คติดต่อกัน 3 วัน แล้วเปิดหน้าสถิติ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Streak ปัจจุบันแสดงค่า 3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Streak ปัจจุบัน 3 วัน (หลังแก้บั๊กตัวคำนวณ)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E884B"/>
                          </a:solidFill>
                          <a:latin typeface="Leelawadee UI"/>
                        </a:rPr>
                        <a:t>ผ่าน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T5 habit เชิงตัวเลข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กรอกค่า 7 จากเป้า 8 แก้ว แล้วดูกราฟรายสัปดาห์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หน้าหลักแสดง 7/8 และกราฟวันนั้นที่ค่า 7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แสดง 7/8 แก้ว กราฟขึ้น 7 แก้ว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E884B"/>
                          </a:solidFill>
                          <a:latin typeface="Leelawadee UI"/>
                        </a:rPr>
                        <a:t>ผ่าน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T6 สลับธีมสว่าง / มืด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ตั้งค่า เลือกธีมมืด ปิดแอปแล้วเปิดใหม่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แอปยังคงเป็นธีมมืด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ยังเป็นธีมมืดหลังเปิดใหม่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E884B"/>
                          </a:solidFill>
                          <a:latin typeface="Leelawadee UI"/>
                        </a:rPr>
                        <a:t>ผ่าน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553712"/>
            <a:ext cx="557784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02920" y="4599432"/>
            <a:ext cx="68580" cy="144475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5528" y="4754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2B3A"/>
                </a:solidFill>
                <a:latin typeface="Leelawadee UI"/>
              </a:rPr>
              <a:t>หลักฐาน</a:t>
            </a:r>
          </a:p>
        </p:txBody>
      </p:sp>
      <p:pic>
        <p:nvPicPr>
          <p:cNvPr id="13" name="Picture 12" descr="t3_after_re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4846320"/>
            <a:ext cx="513726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71126" y="489204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2E75B6"/>
                </a:solidFill>
                <a:latin typeface="Leelawadee UI"/>
              </a:rPr>
              <a:t>T3</a:t>
            </a:r>
          </a:p>
        </p:txBody>
      </p:sp>
      <p:pic>
        <p:nvPicPr>
          <p:cNvPr id="15" name="Picture 14" descr="t4_st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4846320"/>
            <a:ext cx="513726" cy="1097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76966" y="489204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2E75B6"/>
                </a:solidFill>
                <a:latin typeface="Leelawadee UI"/>
              </a:rPr>
              <a:t>T4</a:t>
            </a:r>
          </a:p>
        </p:txBody>
      </p:sp>
      <p:pic>
        <p:nvPicPr>
          <p:cNvPr id="17" name="Picture 16" descr="t5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4846320"/>
            <a:ext cx="513726" cy="1097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82806" y="489204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2E75B6"/>
                </a:solidFill>
                <a:latin typeface="Leelawadee UI"/>
              </a:rPr>
              <a:t>T5</a:t>
            </a:r>
          </a:p>
        </p:txBody>
      </p:sp>
      <p:pic>
        <p:nvPicPr>
          <p:cNvPr id="19" name="Picture 18" descr="t6_after_re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846320"/>
            <a:ext cx="513726" cy="1097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88646" y="489204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2E75B6"/>
                </a:solidFill>
                <a:latin typeface="Leelawadee UI"/>
              </a:rPr>
              <a:t>T6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4553712"/>
            <a:ext cx="557784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108192" y="4599432"/>
            <a:ext cx="68580" cy="1444751"/>
          </a:xfrm>
          <a:prstGeom prst="rect">
            <a:avLst/>
          </a:prstGeom>
          <a:solidFill>
            <a:srgbClr val="C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2B3A"/>
                </a:solidFill>
                <a:latin typeface="Leelawadee UI"/>
              </a:rPr>
              <a:t>ข้อค้นพบ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30952"/>
            <a:ext cx="502920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B7B"/>
                </a:solidFill>
                <a:latin typeface="Leelawadee UI"/>
              </a:rPr>
              <a:t>• ทำงานได้ดี : อ่าน–เขียนข้อมูลกับ SQLite เร็ว หน้าจออัปเดตทันทีที่กดเช็ค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B7B"/>
                </a:solidFill>
                <a:latin typeface="Leelawadee UI"/>
              </a:rPr>
              <a:t>• ต้องปรับปรุงก่อนสอบจบ : ระบบแจ้งเตือน ความถี่ N ครั้งต่อสัปดาห์ และชุดทดสอบอัตโนมัติ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72200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Leelawadee UI"/>
              </a:rPr>
              <a:t>วิธีทดสอบ T3–T6 : สั่งเบราว์เซอร์กดแอปจริงแบบอัตโนมัติ (ข้อมูลตัวอย่าง) แล้วเก็บภาพหน้าจอทุกขั้น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17375E"/>
                </a:solidFill>
                <a:latin typeface="Leelawadee UI"/>
              </a:rPr>
              <a:t>6. ปัญหา อุปสรรค และการแก้ไข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Leelawadee UI"/>
              </a:rPr>
              <a:t>กรรมการต้องเห็นกระบวนการคิดและการแก้ปัญหาระหว่างพัฒนา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โครงการ 1 | การนำเสนอผลการดำเนินงาน ≥ 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วิทยาลัยเทคนิคเชียงใหม่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4282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5A6B7B"/>
                </a:solidFill>
                <a:latin typeface="Leelawadee UI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183112" cy="4215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834640"/>
                <a:gridCol w="3520440"/>
                <a:gridCol w="2450592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ปัญหาที่พบ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สาเหตุ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แนวทางแก้ไขที่ดำเนินการ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ผลหลังแก้ไข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ติดตั้งไลบรารีไม่ผ่าน ขึ้นข้อความ requires symlink support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Windows ยังไม่ได้เปิดโหมดนักพัฒนา จึงสร้างลิงก์ไฟล์ที่ Flutter ต้องใช้ไม่ได้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เปิด Developer Mode ในตั้งค่าของ Windows แล้วสั่งติดตั้งไลบรารีใหม่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ติดตั้งครบและคอมไพล์ต่อได้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ตรวจเครื่องมือด้วย flutter doctor ไม่ผ่านหัวข้อ Android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ติดตั้ง Android Studio ไว้คนละตำแหน่งกับค่ามาตรฐาน และตัวติดตั้งไม่ได้แถมชุดคำสั่ง cmdline-tools มาด้วย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ตั้งค่า JAVA_HOME ให้ชี้ไปที่โฟลเดอร์ jbr ของ Android Studio และดาวน์โหลด cmdline-tools แยกมาแตกไฟล์ลงในโฟลเดอร์ SDK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flutter doctor ผ่าน และยอมรับ license ได้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อีมูเลเตอร์ดับเองระหว่างคอมไพล์ครั้งแรก ซึ่งใช้เวลาราว 17 นาที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หน่วยความจำเครื่องเหลือน้อย อีมูเลเตอร์กับตัวคอมไพล์ Gradle แย่งทรัพยากรกัน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ปิดโปรแกรมอื่นก่อนคอมไพล์ และรอให้คอมไพล์เสร็จก่อนจึงเปิดอีมูเลเตอร์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คอมไพล์รอบถัดไปใช้เวลาไม่ถึง 1 นาที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คอมไพล์ไม่ผ่าน หาคลาส Habit และ HabitLog ไม่เจอ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drift ต้องสร้างไฟล์โค้ดอัตโนมัติ (.g.dart) ก่อน จึงจะมีคลาสเหล่านี้ให้เรียกใช้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สั่ง build_runner สร้างโค้ดใหม่ทุกครั้งที่แก้โครงสร้างตาราง และบันทึกขั้นตอนนี้ไว้ในคู่มือติดตั้ง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คอมไพล์ผ่าน และเพื่อนที่รับโปรเจกต์ไปทำตามได้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จำนวนวันต่อเนื่อง (Streak) ถูกรีเซ็ตเป็น 0 ทั้งที่ยังไม่ได้ขาด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ตัวคำนวณนับวันปัจจุบันที่ยังไม่ได้กดเช็คเป็นวันที่ขาดทันที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แก้ตรรกะให้ข้ามวันปัจจุบันถ้ายังไม่ได้บันทึก แล้วเริ่มนับต่อเนื่องจากเมื่อวานแทน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Streak แสดงค่าถูกต้องตลอดทั้งวัน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779008"/>
            <a:ext cx="11183112" cy="502920"/>
          </a:xfrm>
          <a:prstGeom prst="roundRect">
            <a:avLst>
              <a:gd name="adj" fmla="val 20000"/>
            </a:avLst>
          </a:prstGeom>
          <a:solidFill>
            <a:srgbClr val="FFFBEF"/>
          </a:solidFill>
          <a:ln w="9525">
            <a:solidFill>
              <a:srgbClr val="E8C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59344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821A"/>
                </a:solidFill>
                <a:latin typeface="Leelawadee UI"/>
              </a:rPr>
              <a:t>สิ่งที่ต้องใส่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7128" y="5943600"/>
            <a:ext cx="92628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6B541E"/>
                </a:solidFill>
                <a:latin typeface="Leelawadee UI"/>
              </a:rPr>
              <a:t>เลือกเฉพาะประเด็นสำคัญ และอธิบายให้ครบทั้ง 4 ช่อง : อาการเป็นอย่างไร เกิดจากอะไร แก้อย่างไร ผลหลังแก้เป็นอย่างไร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17375E"/>
                </a:solidFill>
                <a:latin typeface="Leelawadee UI"/>
              </a:rPr>
              <a:t>7. งานที่ยังเหลือและแผนพัฒนาสู่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Leelawadee UI"/>
              </a:rPr>
              <a:t>ส่วนนี้เชื่อมจาก “โครงการ 1” ไปสู่การทำผลงานสมบูรณ์และสอบจบในภาคเรียนหน้า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โครงการ 1 | การนำเสนอผลการดำเนินงาน ≥ 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วิทยาลัยเทคนิคเชียงใหม่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4282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5A6B7B"/>
                </a:solidFill>
                <a:latin typeface="Leelawadee U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183112" cy="4215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234440"/>
                <a:gridCol w="4754880"/>
                <a:gridCol w="2907792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งานที่เหลือ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สถานะปัจจุบัน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สิ่งที่จะดำเนินการต่อ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เป้าหมาย / หลักฐานเมื่อเสร็จ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ระบบแจ้งเตือนตามเวลาที่ผู้ใช้ตั้ง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C9821A"/>
                          </a:solidFill>
                          <a:latin typeface="Leelawadee UI"/>
                        </a:rPr>
                        <a:t>20%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เขียนโค้ดตั้งเวลาแจ้งเตือนซ้ำทุกวันตามเวลาที่บันทึกไว้ และขอสิทธิ์แจ้งเตือนบน Android 13 ขึ้นไป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สาธิตการแจ้งเตือนเด้งขึ้นจริงบนอีมูเลเตอร์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ความถี่แบบ “N ครั้งต่อสัปดาห์”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C9821A"/>
                          </a:solidFill>
                          <a:latin typeface="Leelawadee UI"/>
                        </a:rPr>
                        <a:t>40%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แก้ตัวคำนวณให้นับจำนวนครั้งที่ทำได้ในสัปดาห์เทียบกับเป้าหมาย แทนการนับรายวัน ทั้งหน้าหลักและหน้าสถิติ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ผลทดสอบ : ตั้งเป้า 3 ครั้ง/สัปดาห์ ทำได้ 2 ครั้ง ต้องแสดง 2/3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หน้าจัดการหมวดหมู่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C0392B"/>
                          </a:solidFill>
                          <a:latin typeface="Leelawadee UI"/>
                        </a:rPr>
                        <a:t>ยังไม่เริ่ม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เพิ่มหน้าสำหรับเพิ่ม แก้ไข และลบหมวดหมู่ ปัจจุบันใช้ได้เฉพาะ 5 หมวดตั้งต้นที่ระบบสร้างให้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ภาพหน้าจอหน้าจัดการหมวดหมู่ที่ใช้งานได้จริง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ชุดทดสอบอัตโนมัติ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C0392B"/>
                          </a:solidFill>
                          <a:latin typeface="Leelawadee UI"/>
                        </a:rPr>
                        <a:t>ยังไม่เริ่ม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เขียนชุดทดสอบตัวคำนวณ Streak (ทำต่อเนื่อง / ขาดกลางทาง / เจาะจงวัน) และทดสอบหน้าหลัก แทนไฟล์ตัวอย่างเดิม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ผลรัน flutter test ผ่านทุกกรณี พร้อมภาพผลลัพธ์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ส่งออกข้อมูลและการเผยแพร่แอป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C0392B"/>
                          </a:solidFill>
                          <a:latin typeface="Leelawadee UI"/>
                        </a:rPr>
                        <a:t>ยังไม่เริ่ม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เพิ่มการส่งออกข้อมูลเป็นไฟล์ CSV/JSON ตั้งชื่อและไอคอนแอป แล้วสร้างไฟล์ APK สำหรับติดตั้งจริง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B2B3A"/>
                          </a:solidFill>
                          <a:latin typeface="Leelawadee UI"/>
                        </a:rPr>
                        <a:t>ไฟล์ APK ที่ติดตั้งบนมือถือจริงได้ และไฟล์ข้อมูลที่ส่งออก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760720"/>
            <a:ext cx="11183112" cy="502920"/>
          </a:xfrm>
          <a:prstGeom prst="roundRect">
            <a:avLst>
              <a:gd name="adj" fmla="val 20000"/>
            </a:avLst>
          </a:prstGeom>
          <a:solidFill>
            <a:srgbClr val="FFFBEF"/>
          </a:solidFill>
          <a:ln w="9525">
            <a:solidFill>
              <a:srgbClr val="E8C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591616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821A"/>
                </a:solidFill>
                <a:latin typeface="Leelawadee UI"/>
              </a:rPr>
              <a:t>สิ่งที่ต้องใส่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7128" y="5925312"/>
            <a:ext cx="92628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6B541E"/>
                </a:solidFill>
                <a:latin typeface="Leelawadee UI"/>
              </a:rPr>
              <a:t>ระบุงานที่เหลือเป็นรูปธรรม : จะเพิ่มอะไร แก้ตรงไหน ทดสอบด้วยวิธีใด ไม่ใช้ถ้อยคำกว้าง ๆ เช่น “ปรับปรุงระบบให้สมบูรณ์”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17375E"/>
                </a:solidFill>
                <a:latin typeface="Leelawadee UI"/>
              </a:rPr>
              <a:t>8. การแบ่งหน้าที่และผลงานรายบุคคล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Leelawadee UI"/>
              </a:rPr>
              <a:t>ใช้ตรวจสอบการมีส่วนร่วมของสมาชิกแต่ละคนในการตัดเกรดโครงการ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โครงการ 1 | การนำเสนอผลการดำเนินงาน ≥ 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วิทยาลัยเทคนิคเชียงใหม่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4282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5A6B7B"/>
                </a:solidFill>
                <a:latin typeface="Leelawadee UI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183112" cy="275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3931920"/>
                <a:gridCol w="2679192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ชื่อสมาชิก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หน้าที่รับผิดชอบ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สิ่งที่ทำสำเร็จ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</a:rPr>
                        <a:t>หลักฐาน</a:t>
                      </a:r>
                    </a:p>
                  </a:txBody>
                  <a:tcPr marL="109728" marT="54864" marB="54864" anchor="ctr">
                    <a:solidFill>
                      <a:srgbClr val="17375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B3A"/>
                          </a:solidFill>
                          <a:latin typeface="Leelawadee UI"/>
                        </a:rPr>
                        <a:t>[ชื่อคนที่ 1]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B3A"/>
                          </a:solidFill>
                          <a:latin typeface="Leelawadee UI"/>
                        </a:rPr>
                        <a:t>ออกแบบฐานข้อมูลและชั้นข้อมูล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B3A"/>
                          </a:solidFill>
                          <a:latin typeface="Leelawadee UI"/>
                        </a:rPr>
                        <a:t>ตาราง Categories / Habits / HabitLogs · คำสั่งอ่าน–เขียนข้อมูล · ตัวคำนวณ Streak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B3A"/>
                          </a:solidFill>
                          <a:latin typeface="Leelawadee UI"/>
                        </a:rPr>
                        <a:t>[Git commit / app_database.dart / streak_calculator.dart]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B3A"/>
                          </a:solidFill>
                          <a:latin typeface="Leelawadee UI"/>
                        </a:rPr>
                        <a:t>[ชื่อคนที่ 2]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B3A"/>
                          </a:solidFill>
                          <a:latin typeface="Leelawadee UI"/>
                        </a:rPr>
                        <a:t>ออกแบบและพัฒนาส่วนติดต่อผู้ใช้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B3A"/>
                          </a:solidFill>
                          <a:latin typeface="Leelawadee UI"/>
                        </a:rPr>
                        <a:t>หน้าหลัก · หน้าเพิ่มและแก้ไข habit · หน้าเลือกแม่แบบ · ธีมสว่างและมืด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B3A"/>
                          </a:solidFill>
                          <a:latin typeface="Leelawadee UI"/>
                        </a:rPr>
                        <a:t>[Git commit / ภาพหน้าจอ / สาธิตสด]</a:t>
                      </a:r>
                    </a:p>
                  </a:txBody>
                  <a:tcPr marL="109728" marT="45720" marB="45720" anchor="ctr">
                    <a:solidFill>
                      <a:srgbClr val="EEF2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B3A"/>
                          </a:solidFill>
                          <a:latin typeface="Leelawadee UI"/>
                        </a:rPr>
                        <a:t>[ชื่อคนที่ 3 ถ้ามี]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B3A"/>
                          </a:solidFill>
                          <a:latin typeface="Leelawadee UI"/>
                        </a:rPr>
                        <a:t>หน้าสถิติ การทดสอบ และเอกสาร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B3A"/>
                          </a:solidFill>
                          <a:latin typeface="Leelawadee UI"/>
                        </a:rPr>
                        <a:t>ปฏิทินความถี่ · กราฟรายสัปดาห์ · การ์ด Streak · คู่มือติดตั้ง SETUP.md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B3A"/>
                          </a:solidFill>
                          <a:latin typeface="Leelawadee UI"/>
                        </a:rPr>
                        <a:t>[Git commit / ผลทดสอบ / เอกสาร]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480560"/>
            <a:ext cx="11183112" cy="960120"/>
          </a:xfrm>
          <a:prstGeom prst="roundRect">
            <a:avLst>
              <a:gd name="adj" fmla="val 12000"/>
            </a:avLst>
          </a:prstGeom>
          <a:solidFill>
            <a:srgbClr val="FFFBEF"/>
          </a:solidFill>
          <a:ln w="9525">
            <a:solidFill>
              <a:srgbClr val="E8C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462686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821A"/>
                </a:solidFill>
                <a:latin typeface="Leelawadee UI"/>
              </a:rPr>
              <a:t>สิ่งที่ต้องใส่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956048"/>
            <a:ext cx="10671048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6B541E"/>
                </a:solidFill>
                <a:latin typeface="Leelawadee UI"/>
              </a:rPr>
              <a:t>สมาชิกทุกคนต้องตอบคำถามเกี่ยวกับงานของตนเองได้ และกรรมการอาจให้คะแนนรายบุคคลแตกต่างกันตามหลักฐานและความเข้าใจ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6B541E"/>
                </a:solidFill>
                <a:latin typeface="Leelawadee UI"/>
              </a:rPr>
              <a:t>ให้ปรับชื่อและหน้าที่ให้ตรงกับความจริง พร้อมเตรียมอธิบายโค้ดส่วนที่ตนเองเขียนได้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468112"/>
            <a:ext cx="11183112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02920" y="5513832"/>
            <a:ext cx="68580" cy="868680"/>
          </a:xfrm>
          <a:prstGeom prst="rect">
            <a:avLst/>
          </a:prstGeom>
          <a:solidFill>
            <a:srgbClr val="17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5528" y="56327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B2B3A"/>
                </a:solidFill>
                <a:latin typeface="Leelawadee UI"/>
              </a:rPr>
              <a:t>คำถามที่ทุกคนควรตอบได้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5998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ข้อมูลถูกเก็บไว้ที่ไหน · Streak คำนวณอย่างไร · ทำไมเลือกเก็บข้อมูลในเครื่องแทนคลาวด์ · หน้าจออัปเดตเองได้อย่างไรเมื่อกดเช็ค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17375E"/>
                </a:solidFill>
                <a:latin typeface="Leelawadee UI"/>
              </a:rPr>
              <a:t>9. สรุปผลการดำเนินงานและสาธิต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Leelawadee UI"/>
              </a:rPr>
              <a:t>ปิดการนำเสนอด้วยสิ่งที่ทำได้จริง ณ วันสอบ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โครงการ 1 | การนำเสนอผลการดำเนินงาน ≥ 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วิทยาลัยเทคนิคเชียงใหม่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4282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5A6B7B"/>
                </a:solidFill>
                <a:latin typeface="Leelawade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361188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8580" cy="3703320"/>
          </a:xfrm>
          <a:prstGeom prst="rect">
            <a:avLst/>
          </a:prstGeom>
          <a:solidFill>
            <a:srgbClr val="17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5528" y="157276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B2B3A"/>
                </a:solidFill>
                <a:latin typeface="Leelawadee UI"/>
              </a:rPr>
              <a:t>ระดับความสำเร็จ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148840"/>
            <a:ext cx="3063240" cy="2862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ความก้าวหน้าปัจจุบัน : 75%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ส่วนสำคัญที่ทำสำเร็จ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1) บันทึกพฤติกรรมประจำวันลงฐานข้อมูลในเครื่องได้จริง ทั้งแบบทำ/ไม่ทำ และแบบมีเป้าตัวเลข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2) คำนวณและแสดง Streak อัตราสำเร็จรายสัปดาห์ และปฏิทินความถี่ย้อนหลัง 1 ปี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3) มีแม่แบบ habit 18 รายการ และธีมสว่าง–มืดที่จำค่าไว้ได้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371600"/>
            <a:ext cx="361188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15968" y="1417320"/>
            <a:ext cx="68580" cy="3703320"/>
          </a:xfrm>
          <a:prstGeom prst="rect">
            <a:avLst/>
          </a:prstGeom>
          <a:solidFill>
            <a:srgbClr val="1E8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08576" y="157276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B2B3A"/>
                </a:solidFill>
                <a:latin typeface="Leelawadee UI"/>
              </a:rPr>
              <a:t>สิ่งที่พิสูจน์ได้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148840"/>
            <a:ext cx="3063240" cy="2862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• แอปทำงานได้จริงบน Android Emulator (Pixel 6) — สาธิตสดได้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• ฐานข้อมูล SQLite 3 ตาราง พร้อมหมวดหมู่ตั้งต้น 5 หมวด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• ซอร์สโค้ด 26 ไฟล์ Dart ประมาณ 3,000 บรรทัด อยู่บน Git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• คู่มือติดตั้ง SETUP.md ที่ผู้อื่นทำตามแล้วรันได้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Leelawadee UI"/>
              </a:rPr>
              <a:t>อ้างอิงหลักฐานในวันสอบ : ภาพหน้าจอ · การสาธิตสด · ประวัติการ commit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371600"/>
            <a:ext cx="3557016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129016" y="1417320"/>
            <a:ext cx="68580" cy="3703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21624" y="1572768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B2B3A"/>
                </a:solidFill>
                <a:latin typeface="Leelawadee UI"/>
              </a:rPr>
              <a:t>เป้าหมายภาคเรียนหน้า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148840"/>
            <a:ext cx="3008376" cy="2862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Leelawadee UI"/>
              </a:rPr>
              <a:t>• ทำระบบแจ้งเตือนและความถี่ N ครั้งต่อสัปดาห์ให้ครบ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Leelawadee UI"/>
              </a:rPr>
              <a:t>• เพิ่มหน้าจัดการหมวดหมู่ และการส่งออก/สำรองข้อมูล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Leelawadee UI"/>
              </a:rPr>
              <a:t>• เขียนชุดทดสอบอัตโนมัติและรันผ่านทั้งหมด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Leelawadee UI"/>
              </a:rPr>
              <a:t>• ทดลองใช้กับผู้ใช้จริงและประเมินความพึงพอใจ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Leelawadee UI"/>
              </a:rPr>
              <a:t>• สร้างไฟล์ APK ติดตั้งบนมือถือจริง และจัดทำรายงานฉบับสมบูรณ์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212080"/>
            <a:ext cx="11183112" cy="804672"/>
          </a:xfrm>
          <a:prstGeom prst="roundRect">
            <a:avLst>
              <a:gd name="adj" fmla="val 20000"/>
            </a:avLst>
          </a:prstGeom>
          <a:solidFill>
            <a:srgbClr val="E8F5F3"/>
          </a:solidFill>
          <a:ln w="9525">
            <a:solidFill>
              <a:srgbClr val="9F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545896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78C82"/>
                </a:solidFill>
                <a:latin typeface="Leelawadee UI"/>
              </a:rPr>
              <a:t>DEMO ผลงานจริง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51383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C5F5A"/>
                </a:solidFill>
                <a:latin typeface="Leelawadee UI"/>
              </a:rPr>
              <a:t>สาธิต 2–3 นาที : เพิ่ม habit จากแม่แบบ → กดเช็คของวันนี้ → เปิดหน้าสถิติดู Streak และปฏิทิน  |  เตรียมวิดีโอสำรองไว้ด้วย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03504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7375E"/>
                </a:solidFill>
                <a:latin typeface="Leelawadee UI"/>
              </a:rPr>
              <a:t>ขอบคุณครับ / ค่ะ   |   คำถามจากกรรมการ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17375E"/>
                </a:solidFill>
                <a:latin typeface="Leelawadee UI"/>
              </a:rPr>
              <a:t>คำแนะนำก่อนวันสอบ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Leelawadee UI"/>
              </a:rPr>
              <a:t>สไลด์นี้ใช้เป็นแนวทางเตรียมตัว สามารถลบออกก่อนนำเสนอได้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โครงการ 1 | การนำเสนอผลการดำเนินงาน ≥ 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Leelawadee UI"/>
              </a:rPr>
              <a:t>วิทยาลัยเทคนิคเชียงใหม่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4282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5A6B7B"/>
                </a:solidFill>
                <a:latin typeface="Leelawade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102412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50" b="0">
                <a:solidFill>
                  <a:srgbClr val="1B2B3A"/>
                </a:solidFill>
                <a:latin typeface="Leelawadee UI"/>
              </a:rPr>
              <a:t>•  เวลานำเสนอแนะนำ 7–10 นาที และตอบคำถามประมาณ 3–5 นาที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50" b="0">
                <a:solidFill>
                  <a:srgbClr val="1B2B3A"/>
                </a:solidFill>
                <a:latin typeface="Leelawadee UI"/>
              </a:rPr>
              <a:t>•  นำเสนอเฉพาะผลการดำเนินงานที่ทำได้จริง ณ วันสอบ ไม่จำเป็นต้องอ้างว่าโครงงานสมบูรณ์ 100%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50" b="0">
                <a:solidFill>
                  <a:srgbClr val="1B2B3A"/>
                </a:solidFill>
                <a:latin typeface="Leelawadee UI"/>
              </a:rPr>
              <a:t>•  หลักฐานที่ต้องเตรียม : ซอร์สโค้ดบน Git · ภาพหน้าจอทุกหน้า · log จากการรันแอป · ไฟล์ SETUP.md · วิดีโอสาธิต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50" b="0">
                <a:solidFill>
                  <a:srgbClr val="1B2B3A"/>
                </a:solidFill>
                <a:latin typeface="Leelawadee UI"/>
              </a:rPr>
              <a:t>•  เปิดอีมูเลเตอร์ทิ้งไว้ล่วงหน้า เพราะบูตครั้งแรกใช้เวลานาน และเตรียมข้อมูลตัวอย่างที่มี Streak หลายวันไว้ก่อน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50" b="0">
                <a:solidFill>
                  <a:srgbClr val="1B2B3A"/>
                </a:solidFill>
                <a:latin typeface="Leelawadee UI"/>
              </a:rPr>
              <a:t>•  ภาพหลักฐานการทดสอบทุกขั้นอยู่ในโฟลเดอร์ docs/test_evidence เปิดให้กรรมการดูได้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50" b="0">
                <a:solidFill>
                  <a:srgbClr val="1B2B3A"/>
                </a:solidFill>
                <a:latin typeface="Leelawadee UI"/>
              </a:rPr>
              <a:t>•  สมาชิกทุกคนต้องรู้ภาพรวมโครงงาน และต้องอธิบายงานที่ตนเองรับผิดชอบได้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50" b="0">
                <a:solidFill>
                  <a:srgbClr val="1B2B3A"/>
                </a:solidFill>
                <a:latin typeface="Leelawadee UI"/>
              </a:rPr>
              <a:t>•  งานที่ยังไม่เสร็จให้ระบุอย่างตรงไปตรงมา พร้อมแผนดำเนินการต่อในภาคเรียนหน้าเพื่อเข้าสู่การสอบจบ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937760"/>
            <a:ext cx="10177272" cy="1051560"/>
          </a:xfrm>
          <a:prstGeom prst="roundRect">
            <a:avLst>
              <a:gd name="adj" fmla="val 15000"/>
            </a:avLst>
          </a:prstGeom>
          <a:solidFill>
            <a:srgbClr val="FDEFEF"/>
          </a:solidFill>
          <a:ln w="9525">
            <a:solidFill>
              <a:srgbClr val="E5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0" y="5166360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B03A3A"/>
                </a:solidFill>
                <a:latin typeface="Leelawadee UI"/>
              </a:rPr>
              <a:t>หลักสำคัญ : “คะแนนโครงการ 1 พิจารณาจากสิ่งที่พัฒนาได้จริง ความเข้าใจของผู้จัดทำ คุณภาพหลักฐาน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B03A3A"/>
                </a:solidFill>
                <a:latin typeface="Leelawadee UI"/>
              </a:rPr>
              <a:t>และความพร้อมที่จะพัฒนาต่อให้สมบูรณ์ในโครงการ 2”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